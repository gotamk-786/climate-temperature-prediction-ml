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6858000" cy="9144000"/>
  <p:embeddedFontLst>
    <p:embeddedFont>
      <p:font typeface="Anton" panose="00000500000000000000"/>
      <p:regular r:id="rId25"/>
    </p:embeddedFont>
    <p:embeddedFont>
      <p:font typeface="Aptos" panose="020B0004020202020204"/>
      <p:regular r:id="rId26"/>
    </p:embeddedFont>
    <p:embeddedFont>
      <p:font typeface="Aptos Bold" panose="020B0004020202020204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676356" y="342636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Climate Change Analysis and Temperature Prediction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7657" y="1333786"/>
            <a:ext cx="15602855" cy="6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5B685E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Predicting city-level temperature trends using historical climate records and machine learning</a:t>
            </a:r>
            <a:endParaRPr lang="en-US" sz="2200">
              <a:solidFill>
                <a:srgbClr val="5B685E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2640"/>
              </a:lnSpc>
            </a:pPr>
            <a:endParaRPr lang="en-US" sz="2200">
              <a:solidFill>
                <a:srgbClr val="5B685E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01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62000" y="2127885"/>
            <a:ext cx="6730365" cy="75958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3925"/>
              </a:lnSpc>
            </a:pPr>
            <a:endParaRPr lang="en-US" sz="4800" b="1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sz="4800" b="1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Group members:</a:t>
            </a:r>
            <a:endParaRPr lang="en-US" sz="327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sz="327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Gotam Kumar (23k-0860)</a:t>
            </a:r>
            <a:endParaRPr lang="en-US" sz="3270" b="1">
              <a:solidFill>
                <a:srgbClr val="1F2923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altLang="en-GB" sz="327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Uzair Mustafa (23I-0827)</a:t>
            </a:r>
            <a:endParaRPr lang="en-US" altLang="en-GB" sz="3270" b="1">
              <a:solidFill>
                <a:srgbClr val="1F2923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altLang="en-GB" sz="327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(Khoula Marium (23k-0564 )</a:t>
            </a:r>
            <a:endParaRPr lang="en-US" altLang="en-GB" sz="3270" b="1">
              <a:solidFill>
                <a:srgbClr val="1F2923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ctr">
              <a:lnSpc>
                <a:spcPts val="3925"/>
              </a:lnSpc>
            </a:pPr>
            <a:endParaRPr lang="en-US" sz="327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endParaRPr lang="en-US" sz="327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endParaRPr lang="en-US" sz="327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ctr">
              <a:lnSpc>
                <a:spcPts val="3925"/>
              </a:lnSpc>
            </a:pPr>
            <a:r>
              <a:rPr lang="en-US" sz="327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Dataset: </a:t>
            </a:r>
            <a:r>
              <a:rPr lang="en-US" sz="3270" b="1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Berkeley Earth(</a:t>
            </a:r>
            <a:r>
              <a:rPr lang="en-US" sz="327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</a:t>
            </a:r>
            <a:r>
              <a:rPr lang="en-US" sz="3270" b="1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GlobalLandTemperaturesByCity.csv)</a:t>
            </a:r>
            <a:endParaRPr lang="en-US" sz="3270" b="1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7763211" y="2124880"/>
            <a:ext cx="10115934" cy="4063669"/>
            <a:chOff x="0" y="0"/>
            <a:chExt cx="10706849" cy="4301046"/>
          </a:xfrm>
        </p:grpSpPr>
        <p:sp>
          <p:nvSpPr>
            <p:cNvPr id="9" name="Freeform 9" descr="global_temperature_trend.png"/>
            <p:cNvSpPr/>
            <p:nvPr/>
          </p:nvSpPr>
          <p:spPr>
            <a:xfrm>
              <a:off x="0" y="0"/>
              <a:ext cx="10706862" cy="4300982"/>
            </a:xfrm>
            <a:custGeom>
              <a:avLst/>
              <a:gdLst/>
              <a:ahLst/>
              <a:cxnLst/>
              <a:rect l="l" t="t" r="r" b="b"/>
              <a:pathLst>
                <a:path w="10706862" h="4300982">
                  <a:moveTo>
                    <a:pt x="0" y="0"/>
                  </a:moveTo>
                  <a:lnTo>
                    <a:pt x="10706862" y="0"/>
                  </a:lnTo>
                  <a:lnTo>
                    <a:pt x="10706862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335" r="-1335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473865" y="6588600"/>
            <a:ext cx="3176216" cy="1391736"/>
            <a:chOff x="0" y="0"/>
            <a:chExt cx="4234955" cy="1855648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2948918" y="6588600"/>
            <a:ext cx="3176216" cy="1391736"/>
            <a:chOff x="0" y="0"/>
            <a:chExt cx="4234955" cy="1855648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0.980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R2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526766" y="8382605"/>
            <a:ext cx="6588824" cy="1102646"/>
            <a:chOff x="0" y="0"/>
            <a:chExt cx="8785098" cy="14701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85225" cy="1470220"/>
            </a:xfrm>
            <a:custGeom>
              <a:avLst/>
              <a:gdLst/>
              <a:ahLst/>
              <a:cxnLst/>
              <a:rect l="l" t="t" r="r" b="b"/>
              <a:pathLst>
                <a:path w="8785225" h="1470220">
                  <a:moveTo>
                    <a:pt x="0" y="245102"/>
                  </a:moveTo>
                  <a:cubicBezTo>
                    <a:pt x="0" y="109734"/>
                    <a:pt x="106553" y="0"/>
                    <a:pt x="237998" y="0"/>
                  </a:cubicBezTo>
                  <a:lnTo>
                    <a:pt x="8547227" y="0"/>
                  </a:lnTo>
                  <a:cubicBezTo>
                    <a:pt x="8678672" y="0"/>
                    <a:pt x="8785225" y="109734"/>
                    <a:pt x="8785225" y="245102"/>
                  </a:cubicBezTo>
                  <a:lnTo>
                    <a:pt x="8785225" y="1225119"/>
                  </a:lnTo>
                  <a:cubicBezTo>
                    <a:pt x="8785225" y="1360488"/>
                    <a:pt x="8678672" y="1470220"/>
                    <a:pt x="8547227" y="1470220"/>
                  </a:cubicBezTo>
                  <a:lnTo>
                    <a:pt x="237998" y="1470220"/>
                  </a:lnTo>
                  <a:cubicBezTo>
                    <a:pt x="106553" y="1470221"/>
                    <a:pt x="0" y="1360488"/>
                    <a:pt x="0" y="122511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8785098" cy="1460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Final Recommendation</a:t>
              </a:r>
              <a:endParaRPr lang="en-US" sz="40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Random Forest for chronological prediction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pic>
        <p:nvPicPr>
          <p:cNvPr id="21" name="image1.png" descr="C:\Users\shoaib.rauf\Desktop\islamabad\National_University_of_Computer_and_Emerging_Sciences_logo.png"/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14300"/>
            <a:ext cx="1268730" cy="119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Problem and Research Goal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02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8960" y="2347170"/>
            <a:ext cx="8053159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Climate change affects agriculture, health, water security, infrastructure, and regional planning.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project predicts monthly city-level Average Temperature from historical climate records.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is a regression task because the target is a continuous temperature value, not a class label.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Research question: 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which feature engineering and model strategy gives the best balance of accuracy, generalization, and climate relevance?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144000" y="2061834"/>
            <a:ext cx="8983830" cy="3511861"/>
            <a:chOff x="0" y="0"/>
            <a:chExt cx="10066261" cy="3934993"/>
          </a:xfrm>
        </p:grpSpPr>
        <p:sp>
          <p:nvSpPr>
            <p:cNvPr id="8" name="Freeform 8" descr="anomaly_trend_by_decade.png"/>
            <p:cNvSpPr/>
            <p:nvPr/>
          </p:nvSpPr>
          <p:spPr>
            <a:xfrm>
              <a:off x="0" y="0"/>
              <a:ext cx="10066274" cy="3934968"/>
            </a:xfrm>
            <a:custGeom>
              <a:avLst/>
              <a:gdLst/>
              <a:ahLst/>
              <a:cxnLst/>
              <a:rect l="l" t="t" r="r" b="b"/>
              <a:pathLst>
                <a:path w="10066274" h="3934968">
                  <a:moveTo>
                    <a:pt x="0" y="0"/>
                  </a:moveTo>
                  <a:lnTo>
                    <a:pt x="10066274" y="0"/>
                  </a:lnTo>
                  <a:lnTo>
                    <a:pt x="10066274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19" b="-2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9144000" y="6145389"/>
            <a:ext cx="8983830" cy="3511861"/>
            <a:chOff x="0" y="0"/>
            <a:chExt cx="10066261" cy="3934993"/>
          </a:xfrm>
        </p:grpSpPr>
        <p:sp>
          <p:nvSpPr>
            <p:cNvPr id="10" name="Freeform 10" descr="global_vs_south_asia_trend.png"/>
            <p:cNvSpPr/>
            <p:nvPr/>
          </p:nvSpPr>
          <p:spPr>
            <a:xfrm>
              <a:off x="0" y="0"/>
              <a:ext cx="10066274" cy="3934968"/>
            </a:xfrm>
            <a:custGeom>
              <a:avLst/>
              <a:gdLst/>
              <a:ahLst/>
              <a:cxnLst/>
              <a:rect l="l" t="t" r="r" b="b"/>
              <a:pathLst>
                <a:path w="10066274" h="3934968">
                  <a:moveTo>
                    <a:pt x="0" y="0"/>
                  </a:moveTo>
                  <a:lnTo>
                    <a:pt x="10066274" y="0"/>
                  </a:lnTo>
                  <a:lnTo>
                    <a:pt x="10066274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" b="-2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End-to-End Workflow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How the code moves from raw climate data to final evaluation</a:t>
            </a:r>
            <a:endParaRPr lang="en-US" sz="26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03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022356" y="2051856"/>
            <a:ext cx="2061543" cy="1139885"/>
            <a:chOff x="0" y="0"/>
            <a:chExt cx="2748724" cy="1519847"/>
          </a:xfrm>
        </p:grpSpPr>
        <p:sp>
          <p:nvSpPr>
            <p:cNvPr id="8" name="Freeform 8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Raw Data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2939482" y="2374725"/>
            <a:ext cx="384353" cy="384353"/>
            <a:chOff x="0" y="0"/>
            <a:chExt cx="512470" cy="5124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13" name="Group 13"/>
          <p:cNvGrpSpPr/>
          <p:nvPr/>
        </p:nvGrpSpPr>
        <p:grpSpPr>
          <a:xfrm rot="0">
            <a:off x="3316681" y="2051856"/>
            <a:ext cx="2061543" cy="1139885"/>
            <a:chOff x="0" y="0"/>
            <a:chExt cx="2748724" cy="1519847"/>
          </a:xfrm>
        </p:grpSpPr>
        <p:sp>
          <p:nvSpPr>
            <p:cNvPr id="14" name="Freeform 14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Cleaning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5233807" y="2374725"/>
            <a:ext cx="384353" cy="384353"/>
            <a:chOff x="0" y="0"/>
            <a:chExt cx="512470" cy="5124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5611006" y="2051856"/>
            <a:ext cx="2061543" cy="1139885"/>
            <a:chOff x="0" y="0"/>
            <a:chExt cx="2748724" cy="1519847"/>
          </a:xfrm>
        </p:grpSpPr>
        <p:sp>
          <p:nvSpPr>
            <p:cNvPr id="20" name="Freeform 20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Features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7528122" y="2374725"/>
            <a:ext cx="384353" cy="384353"/>
            <a:chOff x="0" y="0"/>
            <a:chExt cx="512470" cy="5124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7905321" y="2051856"/>
            <a:ext cx="2061543" cy="1139885"/>
            <a:chOff x="0" y="0"/>
            <a:chExt cx="2748724" cy="1519847"/>
          </a:xfrm>
        </p:grpSpPr>
        <p:sp>
          <p:nvSpPr>
            <p:cNvPr id="26" name="Freeform 26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EDA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822447" y="2374725"/>
            <a:ext cx="384353" cy="384353"/>
            <a:chOff x="0" y="0"/>
            <a:chExt cx="512470" cy="5124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31" name="Group 31"/>
          <p:cNvGrpSpPr/>
          <p:nvPr/>
        </p:nvGrpSpPr>
        <p:grpSpPr>
          <a:xfrm rot="0">
            <a:off x="10199646" y="2051856"/>
            <a:ext cx="2061543" cy="1139885"/>
            <a:chOff x="0" y="0"/>
            <a:chExt cx="2748724" cy="1519847"/>
          </a:xfrm>
        </p:grpSpPr>
        <p:sp>
          <p:nvSpPr>
            <p:cNvPr id="32" name="Freeform 32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Models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2116772" y="2374725"/>
            <a:ext cx="384353" cy="384353"/>
            <a:chOff x="0" y="0"/>
            <a:chExt cx="512470" cy="5124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37" name="Group 37"/>
          <p:cNvGrpSpPr/>
          <p:nvPr/>
        </p:nvGrpSpPr>
        <p:grpSpPr>
          <a:xfrm rot="0">
            <a:off x="12493971" y="2051856"/>
            <a:ext cx="2061543" cy="1139885"/>
            <a:chOff x="0" y="0"/>
            <a:chExt cx="2748724" cy="1519847"/>
          </a:xfrm>
        </p:grpSpPr>
        <p:sp>
          <p:nvSpPr>
            <p:cNvPr id="38" name="Freeform 38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Evaluation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14411096" y="2374725"/>
            <a:ext cx="384353" cy="384353"/>
            <a:chOff x="0" y="0"/>
            <a:chExt cx="512470" cy="5124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128143"/>
                  </a:moveTo>
                  <a:lnTo>
                    <a:pt x="256286" y="128143"/>
                  </a:lnTo>
                  <a:lnTo>
                    <a:pt x="256286" y="0"/>
                  </a:lnTo>
                  <a:lnTo>
                    <a:pt x="512445" y="256286"/>
                  </a:lnTo>
                  <a:lnTo>
                    <a:pt x="256286" y="512445"/>
                  </a:lnTo>
                  <a:lnTo>
                    <a:pt x="256286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B8822F"/>
            </a:solidFill>
          </p:spPr>
        </p:sp>
      </p:grpSp>
      <p:grpSp>
        <p:nvGrpSpPr>
          <p:cNvPr id="43" name="Group 43"/>
          <p:cNvGrpSpPr/>
          <p:nvPr/>
        </p:nvGrpSpPr>
        <p:grpSpPr>
          <a:xfrm rot="0">
            <a:off x="14788296" y="2051856"/>
            <a:ext cx="2061543" cy="1139885"/>
            <a:chOff x="0" y="0"/>
            <a:chExt cx="2748724" cy="1519847"/>
          </a:xfrm>
        </p:grpSpPr>
        <p:sp>
          <p:nvSpPr>
            <p:cNvPr id="44" name="Freeform 44"/>
            <p:cNvSpPr/>
            <p:nvPr/>
          </p:nvSpPr>
          <p:spPr>
            <a:xfrm>
              <a:off x="9525" y="9525"/>
              <a:ext cx="2729738" cy="1500886"/>
            </a:xfrm>
            <a:custGeom>
              <a:avLst/>
              <a:gdLst/>
              <a:ahLst/>
              <a:cxnLst/>
              <a:rect l="l" t="t" r="r" b="b"/>
              <a:pathLst>
                <a:path w="2729738" h="1500886">
                  <a:moveTo>
                    <a:pt x="0" y="250190"/>
                  </a:moveTo>
                  <a:cubicBezTo>
                    <a:pt x="0" y="112014"/>
                    <a:pt x="112649" y="0"/>
                    <a:pt x="251587" y="0"/>
                  </a:cubicBezTo>
                  <a:lnTo>
                    <a:pt x="2478151" y="0"/>
                  </a:lnTo>
                  <a:cubicBezTo>
                    <a:pt x="2617089" y="0"/>
                    <a:pt x="2729738" y="112014"/>
                    <a:pt x="2729738" y="250190"/>
                  </a:cubicBezTo>
                  <a:lnTo>
                    <a:pt x="2729738" y="1250696"/>
                  </a:lnTo>
                  <a:cubicBezTo>
                    <a:pt x="2729738" y="1388872"/>
                    <a:pt x="2617089" y="1500886"/>
                    <a:pt x="2478151" y="1500886"/>
                  </a:cubicBezTo>
                  <a:lnTo>
                    <a:pt x="251587" y="1500886"/>
                  </a:lnTo>
                  <a:cubicBezTo>
                    <a:pt x="112649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748788" cy="1519936"/>
            </a:xfrm>
            <a:custGeom>
              <a:avLst/>
              <a:gdLst/>
              <a:ahLst/>
              <a:cxnLst/>
              <a:rect l="l" t="t" r="r" b="b"/>
              <a:pathLst>
                <a:path w="2748788" h="1519936">
                  <a:moveTo>
                    <a:pt x="0" y="259715"/>
                  </a:moveTo>
                  <a:cubicBezTo>
                    <a:pt x="0" y="116205"/>
                    <a:pt x="116967" y="0"/>
                    <a:pt x="261112" y="0"/>
                  </a:cubicBezTo>
                  <a:lnTo>
                    <a:pt x="2487676" y="0"/>
                  </a:lnTo>
                  <a:lnTo>
                    <a:pt x="2487676" y="9525"/>
                  </a:lnTo>
                  <a:lnTo>
                    <a:pt x="2487676" y="0"/>
                  </a:lnTo>
                  <a:cubicBezTo>
                    <a:pt x="2631821" y="0"/>
                    <a:pt x="2748788" y="116205"/>
                    <a:pt x="2748788" y="259715"/>
                  </a:cubicBezTo>
                  <a:lnTo>
                    <a:pt x="2739263" y="259715"/>
                  </a:lnTo>
                  <a:lnTo>
                    <a:pt x="2748788" y="259715"/>
                  </a:lnTo>
                  <a:lnTo>
                    <a:pt x="2748788" y="1260221"/>
                  </a:lnTo>
                  <a:lnTo>
                    <a:pt x="2739263" y="1260221"/>
                  </a:lnTo>
                  <a:lnTo>
                    <a:pt x="2748788" y="1260221"/>
                  </a:lnTo>
                  <a:cubicBezTo>
                    <a:pt x="2748788" y="1403731"/>
                    <a:pt x="2631821" y="1519936"/>
                    <a:pt x="2487676" y="1519936"/>
                  </a:cubicBezTo>
                  <a:lnTo>
                    <a:pt x="2487676" y="1510411"/>
                  </a:lnTo>
                  <a:lnTo>
                    <a:pt x="2487676" y="1519936"/>
                  </a:lnTo>
                  <a:lnTo>
                    <a:pt x="261112" y="1519936"/>
                  </a:lnTo>
                  <a:lnTo>
                    <a:pt x="261112" y="1510411"/>
                  </a:lnTo>
                  <a:lnTo>
                    <a:pt x="261112" y="1519936"/>
                  </a:lnTo>
                  <a:cubicBezTo>
                    <a:pt x="116967" y="1519809"/>
                    <a:pt x="0" y="1403604"/>
                    <a:pt x="0" y="1260221"/>
                  </a:cubicBezTo>
                  <a:lnTo>
                    <a:pt x="0" y="259715"/>
                  </a:lnTo>
                  <a:lnTo>
                    <a:pt x="9525" y="259715"/>
                  </a:lnTo>
                  <a:lnTo>
                    <a:pt x="0" y="259715"/>
                  </a:lnTo>
                  <a:moveTo>
                    <a:pt x="19050" y="259715"/>
                  </a:moveTo>
                  <a:lnTo>
                    <a:pt x="19050" y="1260221"/>
                  </a:lnTo>
                  <a:lnTo>
                    <a:pt x="9525" y="1260221"/>
                  </a:lnTo>
                  <a:lnTo>
                    <a:pt x="19050" y="1260221"/>
                  </a:lnTo>
                  <a:cubicBezTo>
                    <a:pt x="19050" y="1393063"/>
                    <a:pt x="127381" y="1500886"/>
                    <a:pt x="261112" y="1500886"/>
                  </a:cubicBezTo>
                  <a:lnTo>
                    <a:pt x="2487676" y="1500886"/>
                  </a:lnTo>
                  <a:cubicBezTo>
                    <a:pt x="2621407" y="1500886"/>
                    <a:pt x="2729738" y="1393063"/>
                    <a:pt x="2729738" y="1260221"/>
                  </a:cubicBezTo>
                  <a:lnTo>
                    <a:pt x="2729738" y="259715"/>
                  </a:lnTo>
                  <a:cubicBezTo>
                    <a:pt x="2729738" y="126873"/>
                    <a:pt x="2621407" y="19050"/>
                    <a:pt x="2487676" y="19050"/>
                  </a:cubicBezTo>
                  <a:lnTo>
                    <a:pt x="261112" y="19050"/>
                  </a:lnTo>
                  <a:lnTo>
                    <a:pt x="261112" y="9525"/>
                  </a:lnTo>
                  <a:lnTo>
                    <a:pt x="261112" y="19050"/>
                  </a:lnTo>
                  <a:cubicBezTo>
                    <a:pt x="127381" y="19050"/>
                    <a:pt x="19050" y="126873"/>
                    <a:pt x="19050" y="259715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2748724" cy="1519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2923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Paper/PPT</a:t>
              </a:r>
              <a:endParaRPr lang="en-US" sz="16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22356" y="3782292"/>
            <a:ext cx="7504081" cy="560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Raw CSV is loaded from data/raw/GlobalLandTemperaturesByCity.csv.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Cleaning and feature engineering are handled in src/preprocessing.py.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EDA figures are generated into outputs/figures.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Modeling and tuning produce CSV result tables in outputs/tables.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290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research paper and this presentation are generated from the saved artifacts.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48" name="Group 48"/>
          <p:cNvGrpSpPr/>
          <p:nvPr/>
        </p:nvGrpSpPr>
        <p:grpSpPr>
          <a:xfrm rot="0">
            <a:off x="9467760" y="3458442"/>
            <a:ext cx="8113965" cy="3531082"/>
            <a:chOff x="0" y="0"/>
            <a:chExt cx="9883242" cy="4301046"/>
          </a:xfrm>
        </p:grpSpPr>
        <p:sp>
          <p:nvSpPr>
            <p:cNvPr id="49" name="Freeform 49" descr="model_comparison_bar_chart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323" r="-323" b="-1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 rot="0">
            <a:off x="9467760" y="7214913"/>
            <a:ext cx="8113965" cy="2329014"/>
            <a:chOff x="0" y="0"/>
            <a:chExt cx="9883242" cy="2836862"/>
          </a:xfrm>
        </p:grpSpPr>
        <p:sp>
          <p:nvSpPr>
            <p:cNvPr id="51" name="Freeform 51" descr="feature_importance_best_model.png"/>
            <p:cNvSpPr/>
            <p:nvPr/>
          </p:nvSpPr>
          <p:spPr>
            <a:xfrm>
              <a:off x="0" y="0"/>
              <a:ext cx="9883267" cy="2836799"/>
            </a:xfrm>
            <a:custGeom>
              <a:avLst/>
              <a:gdLst/>
              <a:ahLst/>
              <a:cxnLst/>
              <a:rect l="l" t="t" r="r" b="b"/>
              <a:pathLst>
                <a:path w="9883267" h="2836799">
                  <a:moveTo>
                    <a:pt x="0" y="0"/>
                  </a:moveTo>
                  <a:lnTo>
                    <a:pt x="9883267" y="0"/>
                  </a:lnTo>
                  <a:lnTo>
                    <a:pt x="9883267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719" b="-4572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Dataset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04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7078" y="1895228"/>
            <a:ext cx="7708334" cy="50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Source</a:t>
            </a:r>
            <a:r>
              <a:rPr lang="en-US" sz="30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Berkeley Earth Climate Change Dataset on Kaggle.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File used: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GlobalLandTemperaturesByCity.csv.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Raw scale: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approximately 8.6 million monthly city-level records.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Columns</a:t>
            </a:r>
            <a:r>
              <a:rPr lang="en-US" sz="30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dt, AverageTemperature, AverageTemperatureUncertainty, City, Country, Latitude, Longitude.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Working analysis window:</a:t>
            </a:r>
            <a:r>
              <a:rPr lang="en-US" sz="300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</a:t>
            </a:r>
            <a:r>
              <a:rPr lang="en-US" sz="30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1900 onward after cleaning.</a:t>
            </a:r>
            <a:endParaRPr lang="en-US" sz="30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8408834" y="1220469"/>
            <a:ext cx="9275548" cy="4036586"/>
            <a:chOff x="0" y="0"/>
            <a:chExt cx="9883242" cy="4301046"/>
          </a:xfrm>
        </p:grpSpPr>
        <p:sp>
          <p:nvSpPr>
            <p:cNvPr id="8" name="Freeform 8" descr="missing_values_chart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6673" b="-667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8408834" y="5686477"/>
            <a:ext cx="9275548" cy="4036586"/>
            <a:chOff x="0" y="0"/>
            <a:chExt cx="9883242" cy="4301046"/>
          </a:xfrm>
        </p:grpSpPr>
        <p:sp>
          <p:nvSpPr>
            <p:cNvPr id="10" name="Freeform 10" descr="temperature_distribution.png"/>
            <p:cNvSpPr/>
            <p:nvPr/>
          </p:nvSpPr>
          <p:spPr>
            <a:xfrm>
              <a:off x="0" y="0"/>
              <a:ext cx="9883267" cy="4300982"/>
            </a:xfrm>
            <a:custGeom>
              <a:avLst/>
              <a:gdLst/>
              <a:ahLst/>
              <a:cxnLst/>
              <a:rect l="l" t="t" r="r" b="b"/>
              <a:pathLst>
                <a:path w="9883267" h="4300982">
                  <a:moveTo>
                    <a:pt x="0" y="0"/>
                  </a:moveTo>
                  <a:lnTo>
                    <a:pt x="9883267" y="0"/>
                  </a:lnTo>
                  <a:lnTo>
                    <a:pt x="9883267" y="4300982"/>
                  </a:lnTo>
                  <a:lnTo>
                    <a:pt x="0" y="4300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311" b="-6313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Preprocessing Pipeline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Implemented in src/preprocessing.py and notebooks/01_data_cleaning.ipynb</a:t>
            </a:r>
            <a:endParaRPr lang="en-US" sz="26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05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0676" y="2524125"/>
            <a:ext cx="8190424" cy="57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Parsed dt as datetime and converted temperature columns to numeric.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Dropped rows with missing dt or AverageTemperature and removed duplicate records.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Converted latitude/longitude strings into signed float values.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Restricted the working dataset to 1900 onward.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Created cleaned data, South Asia subset, modeling sample, and chronological train/test split.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144000" y="2324014"/>
            <a:ext cx="4276917" cy="1874035"/>
            <a:chOff x="0" y="0"/>
            <a:chExt cx="4234955" cy="1855648"/>
          </a:xfrm>
        </p:grpSpPr>
        <p:sp>
          <p:nvSpPr>
            <p:cNvPr id="9" name="Freeform 9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4.79M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Cleaned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3764906" y="2324014"/>
            <a:ext cx="4276917" cy="1874035"/>
            <a:chOff x="0" y="0"/>
            <a:chExt cx="4234955" cy="1855648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75K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Modeling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9144000" y="5004140"/>
            <a:ext cx="4276917" cy="1874035"/>
            <a:chOff x="0" y="0"/>
            <a:chExt cx="4234955" cy="1855648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60K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Train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3764906" y="5004140"/>
            <a:ext cx="4276917" cy="1874035"/>
            <a:chOff x="0" y="0"/>
            <a:chExt cx="4234955" cy="1855648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15K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Test Rows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Feature Engineering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06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7846" y="1946656"/>
            <a:ext cx="7799552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Temporal: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Year, Month, Quarter, Season, Decade, YearsSince1900.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Geographic</a:t>
            </a:r>
            <a:r>
              <a:rPr lang="en-US" sz="31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LatitudeValue, LongitudeValue, Hemisphere, Country, RegionTag.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Historical signals: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Lag1Temperature, Lag12Temperature, Rolling12MeanTemperature.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Climate interpretation: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HistoricalCityMonthMean, TemperatureAnomaly, ClimateRiskIndex.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region tag supports local climate interpretation and viva discussion.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737398" y="1028700"/>
          <a:ext cx="9293022" cy="5485549"/>
        </p:xfrm>
        <a:graphic>
          <a:graphicData uri="http://schemas.openxmlformats.org/drawingml/2006/table">
            <a:tbl>
              <a:tblPr/>
              <a:tblGrid>
                <a:gridCol w="4646511"/>
                <a:gridCol w="4646511"/>
              </a:tblGrid>
              <a:tr h="839097">
                <a:tc>
                  <a:txBody>
                    <a:bodyPr rtlCol="0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Feature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84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Importance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num__HistoricalCityMonthMean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0.985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num__Lag12Temperature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0.004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num__Lag1Temperature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0.003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num__Rolling12MeanTemperature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08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num__AverageTemperatureUncertainty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4412"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num__LongitudeValue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0.001</a:t>
                      </a:r>
                      <a:endParaRPr lang="en-US" sz="1100"/>
                    </a:p>
                  </a:txBody>
                  <a:tcPr marL="112555" marR="112555" marT="112555" marB="112555" anchor="t">
                    <a:lnL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8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0">
            <a:off x="8737398" y="6776872"/>
            <a:ext cx="9293019" cy="2618948"/>
            <a:chOff x="0" y="0"/>
            <a:chExt cx="10066261" cy="2836862"/>
          </a:xfrm>
        </p:grpSpPr>
        <p:sp>
          <p:nvSpPr>
            <p:cNvPr id="9" name="Freeform 9" descr="feature_importance_best_model.png"/>
            <p:cNvSpPr/>
            <p:nvPr/>
          </p:nvSpPr>
          <p:spPr>
            <a:xfrm>
              <a:off x="0" y="0"/>
              <a:ext cx="10066274" cy="2836799"/>
            </a:xfrm>
            <a:custGeom>
              <a:avLst/>
              <a:gdLst/>
              <a:ahLst/>
              <a:cxnLst/>
              <a:rect l="l" t="t" r="r" b="b"/>
              <a:pathLst>
                <a:path w="10066274" h="2836799">
                  <a:moveTo>
                    <a:pt x="0" y="0"/>
                  </a:moveTo>
                  <a:lnTo>
                    <a:pt x="10066274" y="0"/>
                  </a:lnTo>
                  <a:lnTo>
                    <a:pt x="10066274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47491" b="-47493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EDA Findings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07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6745" y="1853910"/>
            <a:ext cx="6680483" cy="571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Global trend shows a clear warming direction over the modern climate record.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Seasonal boxplot confirms strong month/season structure in the target.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Correlation heatmap supports the importance of lagged and historical average features.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Outlier and country plots show wide geographic temperature variation.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7526893" y="1636400"/>
            <a:ext cx="4871730" cy="3300200"/>
            <a:chOff x="0" y="0"/>
            <a:chExt cx="5673712" cy="3843477"/>
          </a:xfrm>
        </p:grpSpPr>
        <p:sp>
          <p:nvSpPr>
            <p:cNvPr id="8" name="Freeform 8" descr="seasonal_boxplot.png"/>
            <p:cNvSpPr/>
            <p:nvPr/>
          </p:nvSpPr>
          <p:spPr>
            <a:xfrm>
              <a:off x="0" y="0"/>
              <a:ext cx="5673725" cy="3843528"/>
            </a:xfrm>
            <a:custGeom>
              <a:avLst/>
              <a:gdLst/>
              <a:ahLst/>
              <a:cxnLst/>
              <a:rect l="l" t="t" r="r" b="b"/>
              <a:pathLst>
                <a:path w="5673725" h="3843528">
                  <a:moveTo>
                    <a:pt x="0" y="0"/>
                  </a:moveTo>
                  <a:lnTo>
                    <a:pt x="5673725" y="0"/>
                  </a:lnTo>
                  <a:lnTo>
                    <a:pt x="5673725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9017" r="-19017" b="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2791503" y="1636400"/>
            <a:ext cx="4714580" cy="3928810"/>
            <a:chOff x="0" y="0"/>
            <a:chExt cx="5490693" cy="4575569"/>
          </a:xfrm>
        </p:grpSpPr>
        <p:sp>
          <p:nvSpPr>
            <p:cNvPr id="10" name="Freeform 10" descr="correlation_heatmap.png"/>
            <p:cNvSpPr/>
            <p:nvPr/>
          </p:nvSpPr>
          <p:spPr>
            <a:xfrm>
              <a:off x="0" y="0"/>
              <a:ext cx="5490718" cy="4575556"/>
            </a:xfrm>
            <a:custGeom>
              <a:avLst/>
              <a:gdLst/>
              <a:ahLst/>
              <a:cxnLst/>
              <a:rect l="l" t="t" r="r" b="b"/>
              <a:pathLst>
                <a:path w="5490718" h="4575556">
                  <a:moveTo>
                    <a:pt x="0" y="0"/>
                  </a:moveTo>
                  <a:lnTo>
                    <a:pt x="5490718" y="0"/>
                  </a:lnTo>
                  <a:lnTo>
                    <a:pt x="5490718" y="4575556"/>
                  </a:lnTo>
                  <a:lnTo>
                    <a:pt x="0" y="457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" r="-11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7526893" y="5879520"/>
            <a:ext cx="9979190" cy="3378780"/>
            <a:chOff x="0" y="0"/>
            <a:chExt cx="11621960" cy="3934993"/>
          </a:xfrm>
        </p:grpSpPr>
        <p:sp>
          <p:nvSpPr>
            <p:cNvPr id="12" name="Freeform 12" descr="country_comparison.png"/>
            <p:cNvSpPr/>
            <p:nvPr/>
          </p:nvSpPr>
          <p:spPr>
            <a:xfrm>
              <a:off x="0" y="0"/>
              <a:ext cx="11621897" cy="3934968"/>
            </a:xfrm>
            <a:custGeom>
              <a:avLst/>
              <a:gdLst/>
              <a:ahLst/>
              <a:cxnLst/>
              <a:rect l="l" t="t" r="r" b="b"/>
              <a:pathLst>
                <a:path w="11621897" h="3934968">
                  <a:moveTo>
                    <a:pt x="0" y="0"/>
                  </a:moveTo>
                  <a:lnTo>
                    <a:pt x="11621897" y="0"/>
                  </a:lnTo>
                  <a:lnTo>
                    <a:pt x="11621897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711" b="-2271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Implemented Models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87" y="1390936"/>
            <a:ext cx="1560285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5B685E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Implemented in src/train.py and scripts/run_modeling.py</a:t>
            </a:r>
            <a:endParaRPr lang="en-US" sz="2500" b="1">
              <a:solidFill>
                <a:srgbClr val="5B685E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08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8366" y="2539336"/>
            <a:ext cx="8464953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Linear Regression: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interpretable baseline.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Decision Tree Regressor</a:t>
            </a:r>
            <a:r>
              <a:rPr lang="en-US" sz="30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non-linear rule-based model.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Random Forest Regressor: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robust bagging ensemble.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Gradient Boosting Regressor:</a:t>
            </a:r>
            <a:r>
              <a:rPr lang="en-US" sz="305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 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sequential boosting ensemble.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 Regressor: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optimized tree boosting model.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Numerical features were imputed and scaled:</a:t>
            </a: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categorical features were imputed and one-hot encoded.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144000" y="1771936"/>
            <a:ext cx="8803189" cy="4142676"/>
            <a:chOff x="0" y="0"/>
            <a:chExt cx="9334170" cy="4392549"/>
          </a:xfrm>
        </p:grpSpPr>
        <p:sp>
          <p:nvSpPr>
            <p:cNvPr id="9" name="Freeform 9" descr="model_comparison_bar_chart.png"/>
            <p:cNvSpPr/>
            <p:nvPr/>
          </p:nvSpPr>
          <p:spPr>
            <a:xfrm>
              <a:off x="0" y="0"/>
              <a:ext cx="9334119" cy="4392549"/>
            </a:xfrm>
            <a:custGeom>
              <a:avLst/>
              <a:gdLst/>
              <a:ahLst/>
              <a:cxnLst/>
              <a:rect l="l" t="t" r="r" b="b"/>
              <a:pathLst>
                <a:path w="9334119" h="4392549">
                  <a:moveTo>
                    <a:pt x="0" y="0"/>
                  </a:moveTo>
                  <a:lnTo>
                    <a:pt x="9334119" y="0"/>
                  </a:lnTo>
                  <a:lnTo>
                    <a:pt x="9334119" y="4392549"/>
                  </a:lnTo>
                  <a:lnTo>
                    <a:pt x="0" y="4392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4417" r="-441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600068" y="6236122"/>
            <a:ext cx="3945526" cy="1728828"/>
            <a:chOff x="0" y="0"/>
            <a:chExt cx="4234955" cy="1855648"/>
          </a:xfrm>
        </p:grpSpPr>
        <p:sp>
          <p:nvSpPr>
            <p:cNvPr id="11" name="Freeform 11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5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Models Compared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4001663" y="6236122"/>
            <a:ext cx="3945526" cy="1728828"/>
            <a:chOff x="0" y="0"/>
            <a:chExt cx="4234955" cy="1855648"/>
          </a:xfrm>
        </p:grpSpPr>
        <p:sp>
          <p:nvSpPr>
            <p:cNvPr id="15" name="Freeform 15"/>
            <p:cNvSpPr/>
            <p:nvPr/>
          </p:nvSpPr>
          <p:spPr>
            <a:xfrm>
              <a:off x="12700" y="12700"/>
              <a:ext cx="4209542" cy="1830197"/>
            </a:xfrm>
            <a:custGeom>
              <a:avLst/>
              <a:gdLst/>
              <a:ahLst/>
              <a:cxnLst/>
              <a:rect l="l" t="t" r="r" b="b"/>
              <a:pathLst>
                <a:path w="4209542" h="1830197">
                  <a:moveTo>
                    <a:pt x="0" y="305054"/>
                  </a:moveTo>
                  <a:cubicBezTo>
                    <a:pt x="0" y="13652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36525"/>
                    <a:pt x="4209542" y="305054"/>
                  </a:cubicBezTo>
                  <a:lnTo>
                    <a:pt x="4209542" y="1525143"/>
                  </a:lnTo>
                  <a:cubicBezTo>
                    <a:pt x="4209542" y="1693672"/>
                    <a:pt x="4071874" y="1830197"/>
                    <a:pt x="3902075" y="1830197"/>
                  </a:cubicBezTo>
                  <a:lnTo>
                    <a:pt x="307467" y="1830197"/>
                  </a:lnTo>
                  <a:cubicBezTo>
                    <a:pt x="137668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234942" cy="1855597"/>
            </a:xfrm>
            <a:custGeom>
              <a:avLst/>
              <a:gdLst/>
              <a:ahLst/>
              <a:cxnLst/>
              <a:rect l="l" t="t" r="r" b="b"/>
              <a:pathLst>
                <a:path w="4234942" h="1855597">
                  <a:moveTo>
                    <a:pt x="0" y="317754"/>
                  </a:moveTo>
                  <a:cubicBezTo>
                    <a:pt x="0" y="142113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2700"/>
                  </a:lnTo>
                  <a:lnTo>
                    <a:pt x="3914775" y="0"/>
                  </a:lnTo>
                  <a:cubicBezTo>
                    <a:pt x="4091432" y="0"/>
                    <a:pt x="4234942" y="142113"/>
                    <a:pt x="4234942" y="317754"/>
                  </a:cubicBezTo>
                  <a:lnTo>
                    <a:pt x="4222242" y="317754"/>
                  </a:lnTo>
                  <a:lnTo>
                    <a:pt x="4234942" y="317754"/>
                  </a:lnTo>
                  <a:lnTo>
                    <a:pt x="4234942" y="1537843"/>
                  </a:lnTo>
                  <a:lnTo>
                    <a:pt x="4222242" y="1537843"/>
                  </a:lnTo>
                  <a:lnTo>
                    <a:pt x="4234942" y="1537843"/>
                  </a:lnTo>
                  <a:cubicBezTo>
                    <a:pt x="4234942" y="1713484"/>
                    <a:pt x="4091559" y="1855597"/>
                    <a:pt x="3914775" y="1855597"/>
                  </a:cubicBezTo>
                  <a:lnTo>
                    <a:pt x="3914775" y="1842897"/>
                  </a:lnTo>
                  <a:lnTo>
                    <a:pt x="3914775" y="1855597"/>
                  </a:lnTo>
                  <a:lnTo>
                    <a:pt x="320167" y="1855597"/>
                  </a:lnTo>
                  <a:lnTo>
                    <a:pt x="320167" y="1842897"/>
                  </a:lnTo>
                  <a:lnTo>
                    <a:pt x="320167" y="1855597"/>
                  </a:lnTo>
                  <a:cubicBezTo>
                    <a:pt x="143383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260"/>
                    <a:pt x="157226" y="1830197"/>
                    <a:pt x="320167" y="1830197"/>
                  </a:cubicBezTo>
                  <a:lnTo>
                    <a:pt x="3914775" y="1830197"/>
                  </a:lnTo>
                  <a:cubicBezTo>
                    <a:pt x="4077589" y="1830197"/>
                    <a:pt x="4209542" y="1699260"/>
                    <a:pt x="4209542" y="1537843"/>
                  </a:cubicBezTo>
                  <a:lnTo>
                    <a:pt x="4209542" y="317754"/>
                  </a:lnTo>
                  <a:cubicBezTo>
                    <a:pt x="4209542" y="156337"/>
                    <a:pt x="4077716" y="25400"/>
                    <a:pt x="3914775" y="25400"/>
                  </a:cubicBezTo>
                  <a:lnTo>
                    <a:pt x="320167" y="25400"/>
                  </a:lnTo>
                  <a:lnTo>
                    <a:pt x="320167" y="12700"/>
                  </a:lnTo>
                  <a:lnTo>
                    <a:pt x="320167" y="25400"/>
                  </a:lnTo>
                  <a:cubicBezTo>
                    <a:pt x="157226" y="25400"/>
                    <a:pt x="25400" y="156337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34955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Validation Splits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Chronological Model Results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09338" y="9741598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09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46411" y="1853108"/>
          <a:ext cx="10001515" cy="7405194"/>
        </p:xfrm>
        <a:graphic>
          <a:graphicData uri="http://schemas.openxmlformats.org/drawingml/2006/table">
            <a:tbl>
              <a:tblPr/>
              <a:tblGrid>
                <a:gridCol w="2000303"/>
                <a:gridCol w="2000303"/>
                <a:gridCol w="2000303"/>
                <a:gridCol w="1830189"/>
                <a:gridCol w="2170417"/>
              </a:tblGrid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MAE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MAPE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R2 Score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0.927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1.372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48.649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XGBoost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0.932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1.376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42.640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0.965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47.808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Linear Regression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1.009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1.546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56.321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199"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Decision Tree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1.040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1.557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76.755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0.975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690631" y="1853108"/>
            <a:ext cx="7509387" cy="616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>
                <a:solidFill>
                  <a:srgbClr val="1F2923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  </a:t>
            </a:r>
            <a:r>
              <a:rPr lang="en-US" sz="3100">
                <a:solidFill>
                  <a:srgbClr val="1F2923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</a:t>
            </a:r>
            <a:r>
              <a:rPr lang="en-US" sz="3100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Best chronological model:</a:t>
            </a:r>
            <a:endParaRPr lang="en-US" sz="3100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  <a:p>
            <a:pPr algn="l">
              <a:lnSpc>
                <a:spcPts val="3480"/>
              </a:lnSpc>
            </a:p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Random Forest</a:t>
            </a:r>
            <a:r>
              <a:rPr lang="en-US" sz="290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Best model with RMSE = 1.372 and R² = 0.980.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Very close performance with RMSE = 1.376 and R² = 0.980.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Gradient Boosting: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Good performance with RMSE = 1.458 and R² = 0.978.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Linear Regression: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Useful baseline, but higher RMSE = 1.546 and R² = 0.975.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26745" lvl="1" indent="-313055" algn="l">
              <a:lnSpc>
                <a:spcPts val="3480"/>
              </a:lnSpc>
              <a:buFont typeface="Arial" panose="020B0604020202020204"/>
              <a:buChar char="•"/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Decision Tree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: Lowest performance among models with RMSE = 1.557 and R² = 0.975.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1631349" y="8387258"/>
            <a:ext cx="5627951" cy="1181237"/>
            <a:chOff x="0" y="0"/>
            <a:chExt cx="7503935" cy="1574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04049" cy="1575008"/>
            </a:xfrm>
            <a:custGeom>
              <a:avLst/>
              <a:gdLst/>
              <a:ahLst/>
              <a:cxnLst/>
              <a:rect l="l" t="t" r="r" b="b"/>
              <a:pathLst>
                <a:path w="7504049" h="1575008">
                  <a:moveTo>
                    <a:pt x="0" y="262572"/>
                  </a:moveTo>
                  <a:cubicBezTo>
                    <a:pt x="0" y="117555"/>
                    <a:pt x="106553" y="0"/>
                    <a:pt x="237998" y="0"/>
                  </a:cubicBezTo>
                  <a:lnTo>
                    <a:pt x="7266051" y="0"/>
                  </a:lnTo>
                  <a:cubicBezTo>
                    <a:pt x="7397496" y="0"/>
                    <a:pt x="7504049" y="117555"/>
                    <a:pt x="7504049" y="262572"/>
                  </a:cubicBezTo>
                  <a:lnTo>
                    <a:pt x="7504049" y="1312439"/>
                  </a:lnTo>
                  <a:cubicBezTo>
                    <a:pt x="7504049" y="1457456"/>
                    <a:pt x="7397496" y="1575008"/>
                    <a:pt x="7266051" y="1575008"/>
                  </a:cubicBezTo>
                  <a:lnTo>
                    <a:pt x="237998" y="1575008"/>
                  </a:lnTo>
                  <a:cubicBezTo>
                    <a:pt x="106553" y="1575008"/>
                    <a:pt x="0" y="1457456"/>
                    <a:pt x="0" y="131243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7503935" cy="1565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80"/>
                </a:lnSpc>
              </a:pPr>
              <a:r>
                <a:rPr lang="en-US" sz="365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MAPE Note</a:t>
              </a:r>
              <a:endParaRPr lang="en-US" sz="365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High MAPE is caused by near-zero temperatures; RMSE and R2 are primary.</a:t>
              </a:r>
              <a:endParaRPr lang="en-US" sz="15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Cross-Validation and Generalization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10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46411" y="1921741"/>
          <a:ext cx="8703259" cy="7141560"/>
        </p:xfrm>
        <a:graphic>
          <a:graphicData uri="http://schemas.openxmlformats.org/drawingml/2006/table">
            <a:tbl>
              <a:tblPr/>
              <a:tblGrid>
                <a:gridCol w="2901086"/>
                <a:gridCol w="2901086"/>
                <a:gridCol w="2901086"/>
              </a:tblGrid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CV Mean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CV Mean R2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XGBoost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1.403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0.980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1.467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1.476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796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Linear Regression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1.552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724"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Decision Tree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1.666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960"/>
                        </a:lnSpc>
                        <a:defRPr/>
                      </a:pPr>
                      <a:r>
                        <a:rPr lang="en-US" sz="3300">
                          <a:solidFill>
                            <a:srgbClr val="1F2923"/>
                          </a:solidFill>
                          <a:latin typeface="Aptos" panose="020B0004020202020204"/>
                          <a:ea typeface="Aptos" panose="020B0004020202020204"/>
                          <a:cs typeface="Aptos" panose="020B0004020202020204"/>
                          <a:sym typeface="Aptos" panose="020B0004020202020204"/>
                        </a:rPr>
                        <a:t>0.972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043312" y="1921741"/>
            <a:ext cx="7160914" cy="466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XGBoost has the best average CV RMSE (1.4029).</a:t>
            </a:r>
            <a:endParaRPr lang="en-US" sz="3100" b="1">
              <a:solidFill>
                <a:srgbClr val="16684C"/>
              </a:solidFill>
              <a:latin typeface="Aptos Bold" panose="020B0004020202020204"/>
              <a:ea typeface="Aptos Bold" panose="020B0004020202020204"/>
              <a:cs typeface="Aptos Bold" panose="020B0004020202020204"/>
              <a:sym typeface="Aptos Bold" panose="020B0004020202020204"/>
            </a:endParaRPr>
          </a:p>
          <a:p>
            <a:pPr algn="l">
              <a:lnSpc>
                <a:spcPts val="3720"/>
              </a:lnSpc>
            </a:pP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performs best on the chronological holdout, showing that model ranking depends on the validation design.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720"/>
              </a:lnSpc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Chronological validation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is more realistic for climate prediction because it tests later years using earlier observations.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9983918" y="7190070"/>
            <a:ext cx="3822358" cy="1873230"/>
            <a:chOff x="0" y="0"/>
            <a:chExt cx="4234955" cy="2075433"/>
          </a:xfrm>
        </p:grpSpPr>
        <p:sp>
          <p:nvSpPr>
            <p:cNvPr id="9" name="Freeform 9"/>
            <p:cNvSpPr/>
            <p:nvPr/>
          </p:nvSpPr>
          <p:spPr>
            <a:xfrm>
              <a:off x="12700" y="14204"/>
              <a:ext cx="4209542" cy="2046967"/>
            </a:xfrm>
            <a:custGeom>
              <a:avLst/>
              <a:gdLst/>
              <a:ahLst/>
              <a:cxnLst/>
              <a:rect l="l" t="t" r="r" b="b"/>
              <a:pathLst>
                <a:path w="4209542" h="2046967">
                  <a:moveTo>
                    <a:pt x="0" y="341185"/>
                  </a:moveTo>
                  <a:cubicBezTo>
                    <a:pt x="0" y="15269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52695"/>
                    <a:pt x="4209542" y="341185"/>
                  </a:cubicBezTo>
                  <a:lnTo>
                    <a:pt x="4209542" y="1705783"/>
                  </a:lnTo>
                  <a:cubicBezTo>
                    <a:pt x="4209542" y="1894272"/>
                    <a:pt x="4071874" y="2046967"/>
                    <a:pt x="3902075" y="2046967"/>
                  </a:cubicBezTo>
                  <a:lnTo>
                    <a:pt x="307467" y="2046967"/>
                  </a:lnTo>
                  <a:cubicBezTo>
                    <a:pt x="137668" y="2046967"/>
                    <a:pt x="0" y="1894272"/>
                    <a:pt x="0" y="17057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234942" cy="2075376"/>
            </a:xfrm>
            <a:custGeom>
              <a:avLst/>
              <a:gdLst/>
              <a:ahLst/>
              <a:cxnLst/>
              <a:rect l="l" t="t" r="r" b="b"/>
              <a:pathLst>
                <a:path w="4234942" h="2075376">
                  <a:moveTo>
                    <a:pt x="0" y="355389"/>
                  </a:moveTo>
                  <a:cubicBezTo>
                    <a:pt x="0" y="158945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4204"/>
                  </a:lnTo>
                  <a:lnTo>
                    <a:pt x="3914775" y="0"/>
                  </a:lnTo>
                  <a:cubicBezTo>
                    <a:pt x="4091432" y="0"/>
                    <a:pt x="4234942" y="158945"/>
                    <a:pt x="4234942" y="355389"/>
                  </a:cubicBezTo>
                  <a:lnTo>
                    <a:pt x="4222242" y="355389"/>
                  </a:lnTo>
                  <a:lnTo>
                    <a:pt x="4234942" y="355389"/>
                  </a:lnTo>
                  <a:lnTo>
                    <a:pt x="4234942" y="1719987"/>
                  </a:lnTo>
                  <a:lnTo>
                    <a:pt x="4222242" y="1719987"/>
                  </a:lnTo>
                  <a:lnTo>
                    <a:pt x="4234942" y="1719987"/>
                  </a:lnTo>
                  <a:cubicBezTo>
                    <a:pt x="4234942" y="1916431"/>
                    <a:pt x="4091559" y="2075376"/>
                    <a:pt x="3914775" y="2075376"/>
                  </a:cubicBezTo>
                  <a:lnTo>
                    <a:pt x="3914775" y="2061171"/>
                  </a:lnTo>
                  <a:lnTo>
                    <a:pt x="3914775" y="2075376"/>
                  </a:lnTo>
                  <a:lnTo>
                    <a:pt x="320167" y="2075376"/>
                  </a:lnTo>
                  <a:lnTo>
                    <a:pt x="320167" y="2061171"/>
                  </a:lnTo>
                  <a:lnTo>
                    <a:pt x="320167" y="2075376"/>
                  </a:lnTo>
                  <a:cubicBezTo>
                    <a:pt x="143383" y="2075376"/>
                    <a:pt x="0" y="1916431"/>
                    <a:pt x="0" y="1719987"/>
                  </a:cubicBezTo>
                  <a:lnTo>
                    <a:pt x="0" y="355389"/>
                  </a:lnTo>
                  <a:lnTo>
                    <a:pt x="12700" y="355389"/>
                  </a:lnTo>
                  <a:lnTo>
                    <a:pt x="0" y="355389"/>
                  </a:lnTo>
                  <a:moveTo>
                    <a:pt x="25400" y="355389"/>
                  </a:moveTo>
                  <a:lnTo>
                    <a:pt x="25400" y="1719987"/>
                  </a:lnTo>
                  <a:lnTo>
                    <a:pt x="12700" y="1719987"/>
                  </a:lnTo>
                  <a:lnTo>
                    <a:pt x="25400" y="1719987"/>
                  </a:lnTo>
                  <a:cubicBezTo>
                    <a:pt x="25400" y="1900522"/>
                    <a:pt x="157226" y="2046967"/>
                    <a:pt x="320167" y="2046967"/>
                  </a:cubicBezTo>
                  <a:lnTo>
                    <a:pt x="3914775" y="2046967"/>
                  </a:lnTo>
                  <a:cubicBezTo>
                    <a:pt x="4077589" y="2046967"/>
                    <a:pt x="4209542" y="1900522"/>
                    <a:pt x="4209542" y="1719987"/>
                  </a:cubicBezTo>
                  <a:lnTo>
                    <a:pt x="4209542" y="355389"/>
                  </a:lnTo>
                  <a:cubicBezTo>
                    <a:pt x="4209542" y="174854"/>
                    <a:pt x="4077716" y="28408"/>
                    <a:pt x="3914775" y="28408"/>
                  </a:cubicBezTo>
                  <a:lnTo>
                    <a:pt x="320167" y="28408"/>
                  </a:lnTo>
                  <a:lnTo>
                    <a:pt x="320167" y="14204"/>
                  </a:lnTo>
                  <a:lnTo>
                    <a:pt x="320167" y="28408"/>
                  </a:lnTo>
                  <a:cubicBezTo>
                    <a:pt x="157226" y="28408"/>
                    <a:pt x="25400" y="174854"/>
                    <a:pt x="25400" y="355389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34955" cy="207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1.4228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Random Split Avg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240525" y="7190070"/>
            <a:ext cx="3822358" cy="1873230"/>
            <a:chOff x="0" y="0"/>
            <a:chExt cx="4234955" cy="2075433"/>
          </a:xfrm>
        </p:grpSpPr>
        <p:sp>
          <p:nvSpPr>
            <p:cNvPr id="13" name="Freeform 13"/>
            <p:cNvSpPr/>
            <p:nvPr/>
          </p:nvSpPr>
          <p:spPr>
            <a:xfrm>
              <a:off x="12700" y="14204"/>
              <a:ext cx="4209542" cy="2046967"/>
            </a:xfrm>
            <a:custGeom>
              <a:avLst/>
              <a:gdLst/>
              <a:ahLst/>
              <a:cxnLst/>
              <a:rect l="l" t="t" r="r" b="b"/>
              <a:pathLst>
                <a:path w="4209542" h="2046967">
                  <a:moveTo>
                    <a:pt x="0" y="341185"/>
                  </a:moveTo>
                  <a:cubicBezTo>
                    <a:pt x="0" y="152695"/>
                    <a:pt x="137668" y="0"/>
                    <a:pt x="307467" y="0"/>
                  </a:cubicBezTo>
                  <a:lnTo>
                    <a:pt x="3902075" y="0"/>
                  </a:lnTo>
                  <a:cubicBezTo>
                    <a:pt x="4071874" y="0"/>
                    <a:pt x="4209542" y="152695"/>
                    <a:pt x="4209542" y="341185"/>
                  </a:cubicBezTo>
                  <a:lnTo>
                    <a:pt x="4209542" y="1705783"/>
                  </a:lnTo>
                  <a:cubicBezTo>
                    <a:pt x="4209542" y="1894272"/>
                    <a:pt x="4071874" y="2046967"/>
                    <a:pt x="3902075" y="2046967"/>
                  </a:cubicBezTo>
                  <a:lnTo>
                    <a:pt x="307467" y="2046967"/>
                  </a:lnTo>
                  <a:cubicBezTo>
                    <a:pt x="137668" y="2046967"/>
                    <a:pt x="0" y="1894272"/>
                    <a:pt x="0" y="17057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234942" cy="2075376"/>
            </a:xfrm>
            <a:custGeom>
              <a:avLst/>
              <a:gdLst/>
              <a:ahLst/>
              <a:cxnLst/>
              <a:rect l="l" t="t" r="r" b="b"/>
              <a:pathLst>
                <a:path w="4234942" h="2075376">
                  <a:moveTo>
                    <a:pt x="0" y="355389"/>
                  </a:moveTo>
                  <a:cubicBezTo>
                    <a:pt x="0" y="158945"/>
                    <a:pt x="143383" y="0"/>
                    <a:pt x="320167" y="0"/>
                  </a:cubicBezTo>
                  <a:lnTo>
                    <a:pt x="3914775" y="0"/>
                  </a:lnTo>
                  <a:lnTo>
                    <a:pt x="3914775" y="14204"/>
                  </a:lnTo>
                  <a:lnTo>
                    <a:pt x="3914775" y="0"/>
                  </a:lnTo>
                  <a:cubicBezTo>
                    <a:pt x="4091432" y="0"/>
                    <a:pt x="4234942" y="158945"/>
                    <a:pt x="4234942" y="355389"/>
                  </a:cubicBezTo>
                  <a:lnTo>
                    <a:pt x="4222242" y="355389"/>
                  </a:lnTo>
                  <a:lnTo>
                    <a:pt x="4234942" y="355389"/>
                  </a:lnTo>
                  <a:lnTo>
                    <a:pt x="4234942" y="1719987"/>
                  </a:lnTo>
                  <a:lnTo>
                    <a:pt x="4222242" y="1719987"/>
                  </a:lnTo>
                  <a:lnTo>
                    <a:pt x="4234942" y="1719987"/>
                  </a:lnTo>
                  <a:cubicBezTo>
                    <a:pt x="4234942" y="1916431"/>
                    <a:pt x="4091559" y="2075376"/>
                    <a:pt x="3914775" y="2075376"/>
                  </a:cubicBezTo>
                  <a:lnTo>
                    <a:pt x="3914775" y="2061171"/>
                  </a:lnTo>
                  <a:lnTo>
                    <a:pt x="3914775" y="2075376"/>
                  </a:lnTo>
                  <a:lnTo>
                    <a:pt x="320167" y="2075376"/>
                  </a:lnTo>
                  <a:lnTo>
                    <a:pt x="320167" y="2061171"/>
                  </a:lnTo>
                  <a:lnTo>
                    <a:pt x="320167" y="2075376"/>
                  </a:lnTo>
                  <a:cubicBezTo>
                    <a:pt x="143383" y="2075376"/>
                    <a:pt x="0" y="1916431"/>
                    <a:pt x="0" y="1719987"/>
                  </a:cubicBezTo>
                  <a:lnTo>
                    <a:pt x="0" y="355389"/>
                  </a:lnTo>
                  <a:lnTo>
                    <a:pt x="12700" y="355389"/>
                  </a:lnTo>
                  <a:lnTo>
                    <a:pt x="0" y="355389"/>
                  </a:lnTo>
                  <a:moveTo>
                    <a:pt x="25400" y="355389"/>
                  </a:moveTo>
                  <a:lnTo>
                    <a:pt x="25400" y="1719987"/>
                  </a:lnTo>
                  <a:lnTo>
                    <a:pt x="12700" y="1719987"/>
                  </a:lnTo>
                  <a:lnTo>
                    <a:pt x="25400" y="1719987"/>
                  </a:lnTo>
                  <a:cubicBezTo>
                    <a:pt x="25400" y="1900522"/>
                    <a:pt x="157226" y="2046967"/>
                    <a:pt x="320167" y="2046967"/>
                  </a:cubicBezTo>
                  <a:lnTo>
                    <a:pt x="3914775" y="2046967"/>
                  </a:lnTo>
                  <a:cubicBezTo>
                    <a:pt x="4077589" y="2046967"/>
                    <a:pt x="4209542" y="1900522"/>
                    <a:pt x="4209542" y="1719987"/>
                  </a:cubicBezTo>
                  <a:lnTo>
                    <a:pt x="4209542" y="355389"/>
                  </a:lnTo>
                  <a:cubicBezTo>
                    <a:pt x="4209542" y="174854"/>
                    <a:pt x="4077716" y="28408"/>
                    <a:pt x="3914775" y="28408"/>
                  </a:cubicBezTo>
                  <a:lnTo>
                    <a:pt x="320167" y="28408"/>
                  </a:lnTo>
                  <a:lnTo>
                    <a:pt x="320167" y="14204"/>
                  </a:lnTo>
                  <a:lnTo>
                    <a:pt x="320167" y="28408"/>
                  </a:lnTo>
                  <a:cubicBezTo>
                    <a:pt x="157226" y="28408"/>
                    <a:pt x="25400" y="174854"/>
                    <a:pt x="25400" y="355389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234955" cy="207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1.4657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Chronological Avg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Comparative Analysis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11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166774" y="2059010"/>
            <a:ext cx="4118019" cy="1372672"/>
            <a:chOff x="0" y="0"/>
            <a:chExt cx="5490693" cy="18302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16684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chronological RMSE: 1.372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5559323" y="2059010"/>
            <a:ext cx="4118019" cy="1372672"/>
            <a:chOff x="0" y="0"/>
            <a:chExt cx="5490693" cy="1830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B8822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XGBoost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CV RMSE: 1.4029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9951872" y="2059010"/>
            <a:ext cx="4118019" cy="1372672"/>
            <a:chOff x="0" y="0"/>
            <a:chExt cx="5490693" cy="18302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90718" cy="1830192"/>
            </a:xfrm>
            <a:custGeom>
              <a:avLst/>
              <a:gdLst/>
              <a:ahLst/>
              <a:cxnLst/>
              <a:rect l="l" t="t" r="r" b="b"/>
              <a:pathLst>
                <a:path w="5490718" h="1830192">
                  <a:moveTo>
                    <a:pt x="0" y="305053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185664" y="0"/>
                  </a:lnTo>
                  <a:cubicBezTo>
                    <a:pt x="5354193" y="0"/>
                    <a:pt x="5490718" y="136525"/>
                    <a:pt x="5490718" y="305053"/>
                  </a:cubicBezTo>
                  <a:lnTo>
                    <a:pt x="5490718" y="1525139"/>
                  </a:lnTo>
                  <a:cubicBezTo>
                    <a:pt x="5490718" y="1693667"/>
                    <a:pt x="5354193" y="1830192"/>
                    <a:pt x="5185664" y="1830192"/>
                  </a:cubicBezTo>
                  <a:lnTo>
                    <a:pt x="305054" y="1830192"/>
                  </a:lnTo>
                  <a:cubicBezTo>
                    <a:pt x="136525" y="1830192"/>
                    <a:pt x="0" y="1693667"/>
                    <a:pt x="0" y="1525139"/>
                  </a:cubicBezTo>
                  <a:close/>
                </a:path>
              </a:pathLst>
            </a:custGeom>
            <a:solidFill>
              <a:srgbClr val="63706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490693" cy="183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FFFFF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Linear Regression</a:t>
              </a:r>
              <a:endParaRPr lang="en-US" sz="3300" b="1">
                <a:solidFill>
                  <a:srgbClr val="FFFFFF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Weakest baseline RMSE: 1.546</a:t>
              </a:r>
              <a:endParaRPr lang="en-US" sz="2000">
                <a:solidFill>
                  <a:srgbClr val="FFFFFF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53576" y="3752142"/>
            <a:ext cx="8190424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and XGBoost are practically close on chronological holdout: 1.372 vs 1.376.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Ensemble models outperform simple linear and single-tree baselines.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XGBoost is stronger under cross-validation, while Random Forest is stronger under chronological testing.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Decision Tree is easier to explain but weaker in predictive accuracy.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Final recommendation:</a:t>
            </a:r>
            <a:r>
              <a:rPr lang="en-US" sz="29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Random Forest for future-period prediction; XGBoost as the CV-focused alternative.</a:t>
            </a:r>
            <a:endParaRPr lang="en-US" sz="29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9144000" y="4399798"/>
            <a:ext cx="8888055" cy="4355149"/>
            <a:chOff x="0" y="0"/>
            <a:chExt cx="9151150" cy="4484065"/>
          </a:xfrm>
        </p:grpSpPr>
        <p:sp>
          <p:nvSpPr>
            <p:cNvPr id="17" name="Freeform 17" descr="model_comparison_bar_chart.png"/>
            <p:cNvSpPr/>
            <p:nvPr/>
          </p:nvSpPr>
          <p:spPr>
            <a:xfrm>
              <a:off x="0" y="0"/>
              <a:ext cx="9151112" cy="4484116"/>
            </a:xfrm>
            <a:custGeom>
              <a:avLst/>
              <a:gdLst/>
              <a:ahLst/>
              <a:cxnLst/>
              <a:rect l="l" t="t" r="r" b="b"/>
              <a:pathLst>
                <a:path w="9151112" h="4484116">
                  <a:moveTo>
                    <a:pt x="0" y="0"/>
                  </a:moveTo>
                  <a:lnTo>
                    <a:pt x="9151112" y="0"/>
                  </a:lnTo>
                  <a:lnTo>
                    <a:pt x="915111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6662" r="-6662"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14346117" y="526151"/>
            <a:ext cx="3685938" cy="3453794"/>
            <a:chOff x="0" y="0"/>
            <a:chExt cx="4199482" cy="3934993"/>
          </a:xfrm>
        </p:grpSpPr>
        <p:sp>
          <p:nvSpPr>
            <p:cNvPr id="19" name="Freeform 19" descr="actual_vs_predicted_best_model.png"/>
            <p:cNvSpPr/>
            <p:nvPr/>
          </p:nvSpPr>
          <p:spPr>
            <a:xfrm>
              <a:off x="0" y="0"/>
              <a:ext cx="4199455" cy="3934968"/>
            </a:xfrm>
            <a:custGeom>
              <a:avLst/>
              <a:gdLst/>
              <a:ahLst/>
              <a:cxnLst/>
              <a:rect l="l" t="t" r="r" b="b"/>
              <a:pathLst>
                <a:path w="4199455" h="3934968">
                  <a:moveTo>
                    <a:pt x="0" y="0"/>
                  </a:moveTo>
                  <a:lnTo>
                    <a:pt x="4199455" y="0"/>
                  </a:lnTo>
                  <a:lnTo>
                    <a:pt x="4199455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70" b="-327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Best Model Diagnostics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12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585601" y="1921745"/>
            <a:ext cx="6937748" cy="6937748"/>
            <a:chOff x="0" y="0"/>
            <a:chExt cx="8419059" cy="8419059"/>
          </a:xfrm>
        </p:grpSpPr>
        <p:sp>
          <p:nvSpPr>
            <p:cNvPr id="7" name="Freeform 7" descr="actual_vs_predicted_best_model.png"/>
            <p:cNvSpPr/>
            <p:nvPr/>
          </p:nvSpPr>
          <p:spPr>
            <a:xfrm>
              <a:off x="0" y="0"/>
              <a:ext cx="8419084" cy="8419084"/>
            </a:xfrm>
            <a:custGeom>
              <a:avLst/>
              <a:gdLst/>
              <a:ahLst/>
              <a:cxnLst/>
              <a:rect l="l" t="t" r="r" b="b"/>
              <a:pathLst>
                <a:path w="8419084" h="8419084">
                  <a:moveTo>
                    <a:pt x="0" y="0"/>
                  </a:moveTo>
                  <a:lnTo>
                    <a:pt x="8419084" y="0"/>
                  </a:lnTo>
                  <a:lnTo>
                    <a:pt x="8419084" y="8419084"/>
                  </a:lnTo>
                  <a:lnTo>
                    <a:pt x="0" y="8419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4" r="-8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7961500" y="1921745"/>
            <a:ext cx="4636636" cy="3042790"/>
            <a:chOff x="0" y="0"/>
            <a:chExt cx="5856732" cy="3843477"/>
          </a:xfrm>
        </p:grpSpPr>
        <p:sp>
          <p:nvSpPr>
            <p:cNvPr id="9" name="Freeform 9" descr="residual_plot.png"/>
            <p:cNvSpPr/>
            <p:nvPr/>
          </p:nvSpPr>
          <p:spPr>
            <a:xfrm>
              <a:off x="0" y="0"/>
              <a:ext cx="5856732" cy="3843528"/>
            </a:xfrm>
            <a:custGeom>
              <a:avLst/>
              <a:gdLst/>
              <a:ahLst/>
              <a:cxnLst/>
              <a:rect l="l" t="t" r="r" b="b"/>
              <a:pathLst>
                <a:path w="5856732" h="3843528">
                  <a:moveTo>
                    <a:pt x="0" y="0"/>
                  </a:moveTo>
                  <a:lnTo>
                    <a:pt x="5856732" y="0"/>
                  </a:lnTo>
                  <a:lnTo>
                    <a:pt x="5856732" y="3843528"/>
                  </a:lnTo>
                  <a:lnTo>
                    <a:pt x="0" y="3843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723" r="-16723"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7961500" y="5490686"/>
            <a:ext cx="9721421" cy="3527932"/>
            <a:chOff x="0" y="0"/>
            <a:chExt cx="11347425" cy="4118013"/>
          </a:xfrm>
        </p:grpSpPr>
        <p:sp>
          <p:nvSpPr>
            <p:cNvPr id="11" name="Freeform 11" descr="feature_importance_best_model.png"/>
            <p:cNvSpPr/>
            <p:nvPr/>
          </p:nvSpPr>
          <p:spPr>
            <a:xfrm>
              <a:off x="0" y="0"/>
              <a:ext cx="11347450" cy="4117975"/>
            </a:xfrm>
            <a:custGeom>
              <a:avLst/>
              <a:gdLst/>
              <a:ahLst/>
              <a:cxnLst/>
              <a:rect l="l" t="t" r="r" b="b"/>
              <a:pathLst>
                <a:path w="11347450" h="4117975">
                  <a:moveTo>
                    <a:pt x="0" y="0"/>
                  </a:moveTo>
                  <a:lnTo>
                    <a:pt x="11347450" y="0"/>
                  </a:lnTo>
                  <a:lnTo>
                    <a:pt x="11347450" y="4117975"/>
                  </a:lnTo>
                  <a:lnTo>
                    <a:pt x="0" y="4117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708" b="-2570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399764" y="1921745"/>
            <a:ext cx="5465437" cy="335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Actual vs predicted plot shows close alignment around the ideal diagonal.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Residuals are concentrated near zero.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05155" lvl="1" indent="-30226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HistoricalCityMonthMean is the dominant feature, followed by lag and rolling features.</a:t>
            </a:r>
            <a:endParaRPr lang="en-US" sz="28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Hyperparameter Tuning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13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9504" y="1735325"/>
          <a:ext cx="14944156" cy="3412194"/>
        </p:xfrm>
        <a:graphic>
          <a:graphicData uri="http://schemas.openxmlformats.org/drawingml/2006/table">
            <a:tbl>
              <a:tblPr/>
              <a:tblGrid>
                <a:gridCol w="3736039"/>
                <a:gridCol w="3736039"/>
                <a:gridCol w="3736039"/>
                <a:gridCol w="3736039"/>
              </a:tblGrid>
              <a:tr h="1216029">
                <a:tc>
                  <a:txBody>
                    <a:bodyPr rtlCol="0"/>
                    <a:lstStyle/>
                    <a:p>
                      <a:pPr algn="ctr">
                        <a:lnSpc>
                          <a:spcPts val="4080"/>
                        </a:lnSpc>
                        <a:defRPr/>
                      </a:pPr>
                      <a:r>
                        <a:rPr lang="en-US" sz="3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Baseline Model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Baseline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Tuned RMSE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48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RMSE Change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960623"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Random Forest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1.372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1.494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0.122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5541"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Gradient Boosting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1.458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9504" y="5448300"/>
            <a:ext cx="9161022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Randomized Search CV was applied to Random Forest and Gradient Boosting.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saved results show tuning did not improve chronological holdout RMSE.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6684C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is still useful:</a:t>
            </a: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CV-optimized parameters do not always improve future-period performance.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baseline Random Forest remains the final recommended model for chronological prediction.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Decade-Wise Error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14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8700" y="1946723"/>
          <a:ext cx="8889896" cy="4015972"/>
        </p:xfrm>
        <a:graphic>
          <a:graphicData uri="http://schemas.openxmlformats.org/drawingml/2006/table">
            <a:tbl>
              <a:tblPr/>
              <a:tblGrid>
                <a:gridCol w="2222474"/>
                <a:gridCol w="2222474"/>
                <a:gridCol w="2222474"/>
                <a:gridCol w="2222474"/>
              </a:tblGrid>
              <a:tr h="1245159"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Decade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Rows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Mean AbsoluteError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Root Mean Squared Error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819572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1990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5896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0.887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1.306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572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2000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6656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0.940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1.379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669"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2010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2448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0.990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1.500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134748" y="1946723"/>
            <a:ext cx="6543218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RMSE increases from the 1990s to the 2010s.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This suggests recent climate conditions are harder to predict using historical city-month patterns.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59130" lvl="1" indent="-329565" algn="l">
              <a:lnSpc>
                <a:spcPts val="3660"/>
              </a:lnSpc>
              <a:buFont typeface="Arial" panose="020B0604020202020204"/>
              <a:buChar char="•"/>
            </a:pPr>
            <a:r>
              <a:rPr lang="en-US" sz="30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The decade analysis adds interpretation beyond a single aggregate accuracy number.</a:t>
            </a:r>
            <a:endParaRPr lang="en-US" sz="30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028700" y="6610394"/>
            <a:ext cx="15236666" cy="2813980"/>
            <a:chOff x="0" y="0"/>
            <a:chExt cx="20315555" cy="3751974"/>
          </a:xfrm>
        </p:grpSpPr>
        <p:sp>
          <p:nvSpPr>
            <p:cNvPr id="9" name="Freeform 9" descr="anomaly_trend_by_decade.png"/>
            <p:cNvSpPr/>
            <p:nvPr/>
          </p:nvSpPr>
          <p:spPr>
            <a:xfrm>
              <a:off x="0" y="0"/>
              <a:ext cx="20315555" cy="3751961"/>
            </a:xfrm>
            <a:custGeom>
              <a:avLst/>
              <a:gdLst/>
              <a:ahLst/>
              <a:cxnLst/>
              <a:rect l="l" t="t" r="r" b="b"/>
              <a:pathLst>
                <a:path w="20315555" h="3751961">
                  <a:moveTo>
                    <a:pt x="0" y="0"/>
                  </a:moveTo>
                  <a:lnTo>
                    <a:pt x="20315555" y="0"/>
                  </a:lnTo>
                  <a:lnTo>
                    <a:pt x="20315555" y="3751961"/>
                  </a:lnTo>
                  <a:lnTo>
                    <a:pt x="0" y="375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t="-55872" b="-55873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South Asia Case Study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15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29504" y="1990375"/>
          <a:ext cx="6443934" cy="5014914"/>
        </p:xfrm>
        <a:graphic>
          <a:graphicData uri="http://schemas.openxmlformats.org/drawingml/2006/table">
            <a:tbl>
              <a:tblPr/>
              <a:tblGrid>
                <a:gridCol w="3221967"/>
                <a:gridCol w="3221967"/>
              </a:tblGrid>
              <a:tr h="1010610"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Country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Warming Rate Per Decade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4C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Afghanistan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0.138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Pakistan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0.110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India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0.079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Nepal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0.078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Sri Lanka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0.076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384"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Bangladesh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30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1F2923"/>
                          </a:solidFill>
                          <a:latin typeface="Aptos Bold" panose="020B0004020202020204"/>
                          <a:ea typeface="Aptos Bold" panose="020B0004020202020204"/>
                          <a:cs typeface="Aptos Bold" panose="020B0004020202020204"/>
                          <a:sym typeface="Aptos Bold" panose="020B0004020202020204"/>
                        </a:rPr>
                        <a:t>0.071</a:t>
                      </a:r>
                      <a:endParaRPr lang="en-US" sz="1100"/>
                    </a:p>
                  </a:txBody>
                  <a:tcPr marT="91440" marB="91440" anchor="t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7"/>
          <p:cNvGrpSpPr/>
          <p:nvPr/>
        </p:nvGrpSpPr>
        <p:grpSpPr>
          <a:xfrm rot="0">
            <a:off x="8254489" y="1990375"/>
            <a:ext cx="4876340" cy="3225885"/>
            <a:chOff x="0" y="0"/>
            <a:chExt cx="5948248" cy="3934993"/>
          </a:xfrm>
        </p:grpSpPr>
        <p:sp>
          <p:nvSpPr>
            <p:cNvPr id="8" name="Freeform 8" descr="country_warming_rate_comparison.png"/>
            <p:cNvSpPr/>
            <p:nvPr/>
          </p:nvSpPr>
          <p:spPr>
            <a:xfrm>
              <a:off x="0" y="0"/>
              <a:ext cx="5948299" cy="3934968"/>
            </a:xfrm>
            <a:custGeom>
              <a:avLst/>
              <a:gdLst/>
              <a:ahLst/>
              <a:cxnLst/>
              <a:rect l="l" t="t" r="r" b="b"/>
              <a:pathLst>
                <a:path w="5948299" h="3934968">
                  <a:moveTo>
                    <a:pt x="0" y="0"/>
                  </a:moveTo>
                  <a:lnTo>
                    <a:pt x="5948299" y="0"/>
                  </a:lnTo>
                  <a:lnTo>
                    <a:pt x="5948299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7444" r="-1744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13505930" y="1990375"/>
            <a:ext cx="4501239" cy="3225885"/>
            <a:chOff x="0" y="0"/>
            <a:chExt cx="5490693" cy="3934993"/>
          </a:xfrm>
        </p:grpSpPr>
        <p:sp>
          <p:nvSpPr>
            <p:cNvPr id="10" name="Freeform 10" descr="pakistan_vs_global_trend.png"/>
            <p:cNvSpPr/>
            <p:nvPr/>
          </p:nvSpPr>
          <p:spPr>
            <a:xfrm>
              <a:off x="0" y="0"/>
              <a:ext cx="5490718" cy="3934968"/>
            </a:xfrm>
            <a:custGeom>
              <a:avLst/>
              <a:gdLst/>
              <a:ahLst/>
              <a:cxnLst/>
              <a:rect l="l" t="t" r="r" b="b"/>
              <a:pathLst>
                <a:path w="5490718" h="3934968">
                  <a:moveTo>
                    <a:pt x="0" y="0"/>
                  </a:moveTo>
                  <a:lnTo>
                    <a:pt x="5490718" y="0"/>
                  </a:lnTo>
                  <a:lnTo>
                    <a:pt x="5490718" y="3934968"/>
                  </a:lnTo>
                  <a:lnTo>
                    <a:pt x="0" y="393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630" r="-4163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8254489" y="6041477"/>
            <a:ext cx="9752680" cy="3300910"/>
            <a:chOff x="0" y="0"/>
            <a:chExt cx="11896496" cy="4026510"/>
          </a:xfrm>
        </p:grpSpPr>
        <p:sp>
          <p:nvSpPr>
            <p:cNvPr id="12" name="Freeform 12" descr="pakistan_city_trends.png"/>
            <p:cNvSpPr/>
            <p:nvPr/>
          </p:nvSpPr>
          <p:spPr>
            <a:xfrm>
              <a:off x="0" y="0"/>
              <a:ext cx="11896471" cy="4026535"/>
            </a:xfrm>
            <a:custGeom>
              <a:avLst/>
              <a:gdLst/>
              <a:ahLst/>
              <a:cxnLst/>
              <a:rect l="l" t="t" r="r" b="b"/>
              <a:pathLst>
                <a:path w="11896471" h="4026535">
                  <a:moveTo>
                    <a:pt x="0" y="0"/>
                  </a:moveTo>
                  <a:lnTo>
                    <a:pt x="11896471" y="0"/>
                  </a:lnTo>
                  <a:lnTo>
                    <a:pt x="11896471" y="4026535"/>
                  </a:lnTo>
                  <a:lnTo>
                    <a:pt x="0" y="402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700" b="-2269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41084" y="7341813"/>
            <a:ext cx="6832355" cy="238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analysis gives the project regional climate relevance.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80720" lvl="1" indent="-340360" algn="l">
              <a:lnSpc>
                <a:spcPts val="3780"/>
              </a:lnSpc>
              <a:buFont typeface="Arial" panose="020B0604020202020204"/>
              <a:buChar char="•"/>
            </a:pPr>
            <a:r>
              <a:rPr lang="en-US" sz="315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Afghanistan and Pakistan have the highest estimated warming rates in the saved table.</a:t>
            </a:r>
            <a:endParaRPr lang="en-US" sz="315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Novelty and Contribution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16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0940" y="2182892"/>
            <a:ext cx="8023060" cy="584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1: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anomaly-based climate interpretation, not only raw prediction.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2: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chronological validation to reduce temporal leakage.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3: 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South Asia and Pakistan-focused analysis for local relevance.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Novelty 4: </a:t>
            </a:r>
            <a:r>
              <a:rPr lang="en-US" sz="32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comparative evaluation across baseline, tree, ensemble, and boosting models.</a:t>
            </a:r>
            <a:endParaRPr lang="en-US" sz="32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Contribution:</a:t>
            </a:r>
            <a:r>
              <a:rPr lang="en-US" sz="33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 reproducible city-level climate ML pipeline with real metrics, figures, and model artifacts.</a:t>
            </a:r>
            <a:endParaRPr lang="en-US" sz="33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37488" y="1472933"/>
            <a:ext cx="7808500" cy="3904250"/>
            <a:chOff x="0" y="0"/>
            <a:chExt cx="9334170" cy="4667085"/>
          </a:xfrm>
        </p:grpSpPr>
        <p:sp>
          <p:nvSpPr>
            <p:cNvPr id="8" name="Freeform 8" descr="rolling_mean_selected_cities.png"/>
            <p:cNvSpPr/>
            <p:nvPr/>
          </p:nvSpPr>
          <p:spPr>
            <a:xfrm>
              <a:off x="0" y="0"/>
              <a:ext cx="9334119" cy="4667123"/>
            </a:xfrm>
            <a:custGeom>
              <a:avLst/>
              <a:gdLst/>
              <a:ahLst/>
              <a:cxnLst/>
              <a:rect l="l" t="t" r="r" b="b"/>
              <a:pathLst>
                <a:path w="9334119" h="4667123">
                  <a:moveTo>
                    <a:pt x="0" y="0"/>
                  </a:moveTo>
                  <a:lnTo>
                    <a:pt x="9334119" y="0"/>
                  </a:lnTo>
                  <a:lnTo>
                    <a:pt x="9334119" y="4667123"/>
                  </a:lnTo>
                  <a:lnTo>
                    <a:pt x="0" y="466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774" r="-77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0">
            <a:off x="9937488" y="5759951"/>
            <a:ext cx="7808500" cy="3062156"/>
            <a:chOff x="0" y="0"/>
            <a:chExt cx="9334170" cy="3660458"/>
          </a:xfrm>
        </p:grpSpPr>
        <p:sp>
          <p:nvSpPr>
            <p:cNvPr id="10" name="Freeform 10" descr="global_vs_south_asia_trend.png"/>
            <p:cNvSpPr/>
            <p:nvPr/>
          </p:nvSpPr>
          <p:spPr>
            <a:xfrm>
              <a:off x="0" y="0"/>
              <a:ext cx="9334119" cy="3660521"/>
            </a:xfrm>
            <a:custGeom>
              <a:avLst/>
              <a:gdLst/>
              <a:ahLst/>
              <a:cxnLst/>
              <a:rect l="l" t="t" r="r" b="b"/>
              <a:pathLst>
                <a:path w="9334119" h="3660521">
                  <a:moveTo>
                    <a:pt x="0" y="0"/>
                  </a:moveTo>
                  <a:lnTo>
                    <a:pt x="9334119" y="0"/>
                  </a:lnTo>
                  <a:lnTo>
                    <a:pt x="9334119" y="3660521"/>
                  </a:lnTo>
                  <a:lnTo>
                    <a:pt x="0" y="366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0" r="-140" b="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26151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1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Key Takeaways for Viva</a:t>
            </a:r>
            <a:endParaRPr lang="en-US" sz="51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17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9047" y="2109788"/>
            <a:ext cx="8464953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regression?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AverageTemperature is continuous, so RMSE and R2 are appropriate.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chronological split?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Climate prediction should test future periods using earlier observations.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Why MAPE is high?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Near-zero temperatures inflate percentage error.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What features mattered most?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Historical city-month mean, lagged temperatures, and rolling means.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669925" lvl="1" indent="-334645" algn="l">
              <a:lnSpc>
                <a:spcPts val="3720"/>
              </a:lnSpc>
              <a:buFont typeface="Arial" panose="020B0604020202020204"/>
              <a:buChar char="•"/>
            </a:pPr>
            <a:r>
              <a:rPr lang="en-US" sz="31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What is novel?</a:t>
            </a:r>
            <a:r>
              <a:rPr lang="en-US" sz="31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Anomaly analysis, time-aware validation, South Asia case study, and model comparison.</a:t>
            </a:r>
            <a:endParaRPr lang="en-US" sz="31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1456937" y="2190366"/>
            <a:ext cx="5221028" cy="1647081"/>
            <a:chOff x="0" y="0"/>
            <a:chExt cx="5882157" cy="1855648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456937" y="4542297"/>
            <a:ext cx="5221028" cy="1647081"/>
            <a:chOff x="0" y="0"/>
            <a:chExt cx="5882157" cy="185564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Chronological 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1456937" y="6894227"/>
            <a:ext cx="5221028" cy="1647081"/>
            <a:chOff x="0" y="0"/>
            <a:chExt cx="5882157" cy="1855648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856732" cy="1830197"/>
            </a:xfrm>
            <a:custGeom>
              <a:avLst/>
              <a:gdLst/>
              <a:ahLst/>
              <a:cxnLst/>
              <a:rect l="l" t="t" r="r" b="b"/>
              <a:pathLst>
                <a:path w="5856732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548757" y="0"/>
                  </a:lnTo>
                  <a:cubicBezTo>
                    <a:pt x="5718810" y="0"/>
                    <a:pt x="5856732" y="136525"/>
                    <a:pt x="5856732" y="305054"/>
                  </a:cubicBezTo>
                  <a:lnTo>
                    <a:pt x="5856732" y="1525143"/>
                  </a:lnTo>
                  <a:cubicBezTo>
                    <a:pt x="5856732" y="1693672"/>
                    <a:pt x="5718810" y="1830197"/>
                    <a:pt x="554875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882132" cy="1855597"/>
            </a:xfrm>
            <a:custGeom>
              <a:avLst/>
              <a:gdLst/>
              <a:ahLst/>
              <a:cxnLst/>
              <a:rect l="l" t="t" r="r" b="b"/>
              <a:pathLst>
                <a:path w="588213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561457" y="0"/>
                  </a:lnTo>
                  <a:lnTo>
                    <a:pt x="5561457" y="12700"/>
                  </a:lnTo>
                  <a:lnTo>
                    <a:pt x="5561457" y="0"/>
                  </a:lnTo>
                  <a:cubicBezTo>
                    <a:pt x="5738495" y="0"/>
                    <a:pt x="5882132" y="142113"/>
                    <a:pt x="5882132" y="317754"/>
                  </a:cubicBezTo>
                  <a:lnTo>
                    <a:pt x="5869432" y="317754"/>
                  </a:lnTo>
                  <a:lnTo>
                    <a:pt x="5882132" y="317754"/>
                  </a:lnTo>
                  <a:lnTo>
                    <a:pt x="5882132" y="1537843"/>
                  </a:lnTo>
                  <a:lnTo>
                    <a:pt x="5869432" y="1537843"/>
                  </a:lnTo>
                  <a:lnTo>
                    <a:pt x="5882132" y="1537843"/>
                  </a:lnTo>
                  <a:cubicBezTo>
                    <a:pt x="5882132" y="1713484"/>
                    <a:pt x="5738495" y="1855597"/>
                    <a:pt x="5561457" y="1855597"/>
                  </a:cubicBezTo>
                  <a:lnTo>
                    <a:pt x="5561457" y="1842897"/>
                  </a:lnTo>
                  <a:lnTo>
                    <a:pt x="556145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675" y="1830197"/>
                  </a:cubicBezTo>
                  <a:lnTo>
                    <a:pt x="5561457" y="1830197"/>
                  </a:lnTo>
                  <a:cubicBezTo>
                    <a:pt x="5724652" y="1830197"/>
                    <a:pt x="5856732" y="1699260"/>
                    <a:pt x="5856732" y="1537843"/>
                  </a:cubicBezTo>
                  <a:lnTo>
                    <a:pt x="5856732" y="317754"/>
                  </a:lnTo>
                  <a:cubicBezTo>
                    <a:pt x="5856732" y="156464"/>
                    <a:pt x="5724652" y="25400"/>
                    <a:pt x="556145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882157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XGBoost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Best CV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438" cy="13726668"/>
            </a:xfrm>
            <a:custGeom>
              <a:avLst/>
              <a:gdLst/>
              <a:ahLst/>
              <a:cxnLst/>
              <a:rect l="l" t="t" r="r" b="b"/>
              <a:pathLst>
                <a:path w="329438" h="1372666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6684C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46411" y="516626"/>
            <a:ext cx="162891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5005">
                <a:solidFill>
                  <a:srgbClr val="16684C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Conclusion and Future Work</a:t>
            </a:r>
            <a:endParaRPr lang="en-US" sz="5005">
              <a:solidFill>
                <a:srgbClr val="16684C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51704" y="9723063"/>
            <a:ext cx="105252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5B685E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18</a:t>
            </a:r>
            <a:endParaRPr lang="en-US" sz="1700">
              <a:solidFill>
                <a:srgbClr val="5B685E"/>
              </a:solidFill>
              <a:latin typeface="Anton" panose="00000500000000000000"/>
              <a:ea typeface="Anton" panose="00000500000000000000"/>
              <a:cs typeface="Anton" panose="00000500000000000000"/>
              <a:sym typeface="Anton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46411" y="2461279"/>
            <a:ext cx="9907586" cy="617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Best chronological model: 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Random Forest with RMSE 1.372 and R2 0.980.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Best CV model: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XGBoost with CV RMSE 1.4029.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Lagged and historical city-month features are the strongest predictors.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Chronological split gives a more realistic estimate than random split for climate forecasting.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  <a:p>
            <a:pPr marL="734695" lvl="1" indent="-367030" algn="l">
              <a:lnSpc>
                <a:spcPts val="408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1F2923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rPr>
              <a:t>Future work:</a:t>
            </a:r>
            <a:r>
              <a:rPr lang="en-US" sz="3400">
                <a:solidFill>
                  <a:srgbClr val="1F2923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 LSTM/Transformer models, post-2013 NASA/NOAA data, added CO2/rainfall/humidity variables, and a Streamlit app.</a:t>
            </a:r>
            <a:endParaRPr lang="en-US" sz="3400">
              <a:solidFill>
                <a:srgbClr val="1F2923"/>
              </a:solidFill>
              <a:latin typeface="Aptos" panose="020B0004020202020204"/>
              <a:ea typeface="Aptos" panose="020B0004020202020204"/>
              <a:cs typeface="Aptos" panose="020B0004020202020204"/>
              <a:sym typeface="Aptos" panose="020B00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1520916" y="2461279"/>
            <a:ext cx="4274353" cy="1391736"/>
            <a:chOff x="0" y="0"/>
            <a:chExt cx="5699138" cy="1855648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Random Forest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Final Model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520916" y="4451652"/>
            <a:ext cx="4274353" cy="1391736"/>
            <a:chOff x="0" y="0"/>
            <a:chExt cx="5699138" cy="1855648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1.372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RMSE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1520916" y="6442024"/>
            <a:ext cx="4274353" cy="1391736"/>
            <a:chOff x="0" y="0"/>
            <a:chExt cx="5699138" cy="1855648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73725" cy="1830197"/>
            </a:xfrm>
            <a:custGeom>
              <a:avLst/>
              <a:gdLst/>
              <a:ahLst/>
              <a:cxnLst/>
              <a:rect l="l" t="t" r="r" b="b"/>
              <a:pathLst>
                <a:path w="5673725" h="1830197">
                  <a:moveTo>
                    <a:pt x="0" y="305054"/>
                  </a:moveTo>
                  <a:cubicBezTo>
                    <a:pt x="0" y="136525"/>
                    <a:pt x="137922" y="0"/>
                    <a:pt x="307975" y="0"/>
                  </a:cubicBezTo>
                  <a:lnTo>
                    <a:pt x="5365877" y="0"/>
                  </a:lnTo>
                  <a:cubicBezTo>
                    <a:pt x="5535930" y="0"/>
                    <a:pt x="5673725" y="136525"/>
                    <a:pt x="5673725" y="305054"/>
                  </a:cubicBezTo>
                  <a:lnTo>
                    <a:pt x="5673725" y="1525143"/>
                  </a:lnTo>
                  <a:cubicBezTo>
                    <a:pt x="5673725" y="1693672"/>
                    <a:pt x="5535930" y="1830197"/>
                    <a:pt x="5365877" y="1830197"/>
                  </a:cubicBezTo>
                  <a:lnTo>
                    <a:pt x="307975" y="1830197"/>
                  </a:lnTo>
                  <a:cubicBezTo>
                    <a:pt x="137922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699252" cy="1855597"/>
            </a:xfrm>
            <a:custGeom>
              <a:avLst/>
              <a:gdLst/>
              <a:ahLst/>
              <a:cxnLst/>
              <a:rect l="l" t="t" r="r" b="b"/>
              <a:pathLst>
                <a:path w="5699252" h="1855597">
                  <a:moveTo>
                    <a:pt x="0" y="317754"/>
                  </a:moveTo>
                  <a:cubicBezTo>
                    <a:pt x="0" y="142113"/>
                    <a:pt x="143637" y="0"/>
                    <a:pt x="320675" y="0"/>
                  </a:cubicBezTo>
                  <a:lnTo>
                    <a:pt x="5378577" y="0"/>
                  </a:lnTo>
                  <a:lnTo>
                    <a:pt x="5378577" y="12700"/>
                  </a:lnTo>
                  <a:lnTo>
                    <a:pt x="5378577" y="0"/>
                  </a:lnTo>
                  <a:cubicBezTo>
                    <a:pt x="5555488" y="0"/>
                    <a:pt x="5699252" y="142113"/>
                    <a:pt x="5699252" y="317754"/>
                  </a:cubicBezTo>
                  <a:lnTo>
                    <a:pt x="5686552" y="317754"/>
                  </a:lnTo>
                  <a:lnTo>
                    <a:pt x="5699252" y="317754"/>
                  </a:lnTo>
                  <a:lnTo>
                    <a:pt x="5699252" y="1537843"/>
                  </a:lnTo>
                  <a:lnTo>
                    <a:pt x="5686552" y="1537843"/>
                  </a:lnTo>
                  <a:lnTo>
                    <a:pt x="5699252" y="1537843"/>
                  </a:lnTo>
                  <a:cubicBezTo>
                    <a:pt x="5699252" y="1713484"/>
                    <a:pt x="5555615" y="1855597"/>
                    <a:pt x="5378577" y="1855597"/>
                  </a:cubicBezTo>
                  <a:lnTo>
                    <a:pt x="5378577" y="1842897"/>
                  </a:lnTo>
                  <a:lnTo>
                    <a:pt x="5378577" y="1855597"/>
                  </a:lnTo>
                  <a:lnTo>
                    <a:pt x="320675" y="1855597"/>
                  </a:lnTo>
                  <a:lnTo>
                    <a:pt x="320675" y="1842897"/>
                  </a:lnTo>
                  <a:lnTo>
                    <a:pt x="320675" y="1855597"/>
                  </a:lnTo>
                  <a:cubicBezTo>
                    <a:pt x="143637" y="1855597"/>
                    <a:pt x="0" y="1713484"/>
                    <a:pt x="0" y="1537843"/>
                  </a:cubicBezTo>
                  <a:lnTo>
                    <a:pt x="0" y="317754"/>
                  </a:lnTo>
                  <a:lnTo>
                    <a:pt x="12700" y="317754"/>
                  </a:lnTo>
                  <a:lnTo>
                    <a:pt x="0" y="317754"/>
                  </a:lnTo>
                  <a:moveTo>
                    <a:pt x="25400" y="317754"/>
                  </a:moveTo>
                  <a:lnTo>
                    <a:pt x="25400" y="1537843"/>
                  </a:lnTo>
                  <a:lnTo>
                    <a:pt x="12700" y="1537843"/>
                  </a:lnTo>
                  <a:lnTo>
                    <a:pt x="25400" y="1537843"/>
                  </a:lnTo>
                  <a:cubicBezTo>
                    <a:pt x="25400" y="1699133"/>
                    <a:pt x="157480" y="1830197"/>
                    <a:pt x="320548" y="1830197"/>
                  </a:cubicBezTo>
                  <a:lnTo>
                    <a:pt x="5378577" y="1830197"/>
                  </a:lnTo>
                  <a:cubicBezTo>
                    <a:pt x="5541772" y="1830197"/>
                    <a:pt x="5673725" y="1699260"/>
                    <a:pt x="5673725" y="1537843"/>
                  </a:cubicBezTo>
                  <a:lnTo>
                    <a:pt x="5673725" y="317754"/>
                  </a:lnTo>
                  <a:cubicBezTo>
                    <a:pt x="5673725" y="156464"/>
                    <a:pt x="5541645" y="25400"/>
                    <a:pt x="5378577" y="25400"/>
                  </a:cubicBezTo>
                  <a:lnTo>
                    <a:pt x="320675" y="25400"/>
                  </a:lnTo>
                  <a:lnTo>
                    <a:pt x="320675" y="12700"/>
                  </a:lnTo>
                  <a:lnTo>
                    <a:pt x="320675" y="25400"/>
                  </a:lnTo>
                  <a:cubicBezTo>
                    <a:pt x="157480" y="25400"/>
                    <a:pt x="25400" y="156464"/>
                    <a:pt x="25400" y="317754"/>
                  </a:cubicBezTo>
                  <a:close/>
                </a:path>
              </a:pathLst>
            </a:custGeom>
            <a:solidFill>
              <a:srgbClr val="D2DA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699138" cy="1855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5"/>
                </a:lnSpc>
              </a:pPr>
              <a:r>
                <a:rPr lang="en-US" sz="3600" b="1">
                  <a:solidFill>
                    <a:srgbClr val="16684C"/>
                  </a:solidFill>
                  <a:latin typeface="Aptos Bold" panose="020B0004020202020204"/>
                  <a:ea typeface="Aptos Bold" panose="020B0004020202020204"/>
                  <a:cs typeface="Aptos Bold" panose="020B0004020202020204"/>
                  <a:sym typeface="Aptos Bold" panose="020B0004020202020204"/>
                </a:rPr>
                <a:t>0.980</a:t>
              </a:r>
              <a:endParaRPr lang="en-US" sz="3600" b="1">
                <a:solidFill>
                  <a:srgbClr val="16684C"/>
                </a:solidFill>
                <a:latin typeface="Aptos Bold" panose="020B0004020202020204"/>
                <a:ea typeface="Aptos Bold" panose="020B0004020202020204"/>
                <a:cs typeface="Aptos Bold" panose="020B0004020202020204"/>
                <a:sym typeface="Aptos Bold" panose="020B0004020202020204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B685E"/>
                  </a:solidFill>
                  <a:latin typeface="Aptos" panose="020B0004020202020204"/>
                  <a:ea typeface="Aptos" panose="020B0004020202020204"/>
                  <a:cs typeface="Aptos" panose="020B0004020202020204"/>
                  <a:sym typeface="Aptos" panose="020B0004020202020204"/>
                </a:rPr>
                <a:t>R2</a:t>
              </a:r>
              <a:endParaRPr lang="en-US" sz="1500">
                <a:solidFill>
                  <a:srgbClr val="5B685E"/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8006</Words>
  <Application>WPS Presentation</Application>
  <PresentationFormat>On-screen Show (4:3)</PresentationFormat>
  <Paragraphs>469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Anton</vt:lpstr>
      <vt:lpstr>Open Sauce</vt:lpstr>
      <vt:lpstr>Segoe Print</vt:lpstr>
      <vt:lpstr>Aptos</vt:lpstr>
      <vt:lpstr>Aptos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climate_change_prediction_presentation (1).pptx</dc:title>
  <dc:creator/>
  <cp:lastModifiedBy>Gotam Kumar</cp:lastModifiedBy>
  <cp:revision>5</cp:revision>
  <dcterms:created xsi:type="dcterms:W3CDTF">2006-08-16T00:00:00Z</dcterms:created>
  <dcterms:modified xsi:type="dcterms:W3CDTF">2026-05-06T15:51:20Z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3860D74F79B543B4AC1B9A7E0A393E05_12</vt:lpwstr>
  </property>
  <property fmtid="{D5CDD505-2E9C-101B-9397-08002B2CF9AE}" pid="3" name="KSOProductBuildVer">
    <vt:lpwstr>2057-12.2.0.23202</vt:lpwstr>
  </property>
</Properties>
</file>