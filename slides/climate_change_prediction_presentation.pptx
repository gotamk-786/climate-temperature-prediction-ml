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Climate Change Analysis and Temperature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85E"/>
                </a:solidFill>
                <a:latin typeface="Aptos"/>
              </a:defRPr>
            </a:pPr>
            <a:r>
              <a:t>Predicting city-level temperature trends using historical climate records and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30352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Student: Gotam Kumar (23k-0860)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Course: Data Science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Instructor: Dr. Rabia Tabassum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Institution: FAST-NUCES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Dataset: Berkeley Earth GlobalLandTemperaturesByCity.csv</a:t>
            </a:r>
          </a:p>
        </p:txBody>
      </p:sp>
      <p:pic>
        <p:nvPicPr>
          <p:cNvPr id="7" name="Picture 6" descr="global_temperatur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17320"/>
            <a:ext cx="5349240" cy="2148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3977639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1.372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Best 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977639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0.980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Best R2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166360"/>
            <a:ext cx="4389120" cy="713232"/>
          </a:xfrm>
          <a:prstGeom prst="roundRect">
            <a:avLst/>
          </a:prstGeom>
          <a:solidFill>
            <a:srgbClr val="B8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Final Recommendation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Random Forest for chronological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Problem and Research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8640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Climate change affects agriculture, health, water security, infrastructure, and regional planning.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The project predicts monthly city-level AverageTemperature from historical climate records.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This is a regression task because the target is a continuous temperature value, not a class label.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Research question: which feature engineering and model strategy gives the best balance of accuracy, generalization, and climate relevance?</a:t>
            </a:r>
          </a:p>
        </p:txBody>
      </p:sp>
      <p:pic>
        <p:nvPicPr>
          <p:cNvPr id="6" name="Picture 5" descr="anomaly_trend_by_de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029200" cy="1965960"/>
          </a:xfrm>
          <a:prstGeom prst="rect">
            <a:avLst/>
          </a:prstGeom>
        </p:spPr>
      </p:pic>
      <p:pic>
        <p:nvPicPr>
          <p:cNvPr id="7" name="Picture 6" descr="global_vs_south_asia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03320"/>
            <a:ext cx="502920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85E"/>
                </a:solidFill>
                <a:latin typeface="Aptos"/>
              </a:defRPr>
            </a:pPr>
            <a:r>
              <a:t>How the code moves from raw climate data to final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36376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923"/>
                </a:solidFill>
                <a:latin typeface="Aptos"/>
              </a:defRPr>
            </a:pPr>
            <a:r>
              <a:t>Raw Data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58122" y="1581912"/>
            <a:ext cx="256032" cy="256032"/>
          </a:xfrm>
          <a:prstGeom prst="rightArrow">
            <a:avLst/>
          </a:prstGeom>
          <a:solidFill>
            <a:srgbClr val="B8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14154" y="1371600"/>
            <a:ext cx="136376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923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86476" y="1581912"/>
            <a:ext cx="256032" cy="256032"/>
          </a:xfrm>
          <a:prstGeom prst="rightArrow">
            <a:avLst/>
          </a:prstGeom>
          <a:solidFill>
            <a:srgbClr val="B8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42508" y="1371600"/>
            <a:ext cx="136376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923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14830" y="1581912"/>
            <a:ext cx="256032" cy="256032"/>
          </a:xfrm>
          <a:prstGeom prst="rightArrow">
            <a:avLst/>
          </a:prstGeom>
          <a:solidFill>
            <a:srgbClr val="B8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70862" y="1371600"/>
            <a:ext cx="136376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923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43185" y="1581912"/>
            <a:ext cx="256032" cy="256032"/>
          </a:xfrm>
          <a:prstGeom prst="rightArrow">
            <a:avLst/>
          </a:prstGeom>
          <a:solidFill>
            <a:srgbClr val="B8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99217" y="1371600"/>
            <a:ext cx="136376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923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71539" y="1581912"/>
            <a:ext cx="256032" cy="256032"/>
          </a:xfrm>
          <a:prstGeom prst="rightArrow">
            <a:avLst/>
          </a:prstGeom>
          <a:solidFill>
            <a:srgbClr val="B8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7571" y="1371600"/>
            <a:ext cx="136376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923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599893" y="1581912"/>
            <a:ext cx="256032" cy="256032"/>
          </a:xfrm>
          <a:prstGeom prst="rightArrow">
            <a:avLst/>
          </a:prstGeom>
          <a:solidFill>
            <a:srgbClr val="B8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55925" y="1371600"/>
            <a:ext cx="136376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923"/>
                </a:solidFill>
                <a:latin typeface="Aptos"/>
              </a:defRPr>
            </a:pPr>
            <a:r>
              <a:t>Paper/PPT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514600"/>
            <a:ext cx="512064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Raw CSV is loaded from data/raw/GlobalLandTemperaturesByCity.csv.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Cleaning and feature engineering are handled in src/preprocessing.py.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EDA figures are generated into outputs/figures.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Modeling and tuning produce CSV result tables in outputs/tables.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The research paper and this presentation are generated from the saved artifacts.</a:t>
            </a:r>
          </a:p>
        </p:txBody>
      </p:sp>
      <p:pic>
        <p:nvPicPr>
          <p:cNvPr id="20" name="Picture 19" descr="model_comparison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423160"/>
            <a:ext cx="4937760" cy="2148840"/>
          </a:xfrm>
          <a:prstGeom prst="rect">
            <a:avLst/>
          </a:prstGeom>
        </p:spPr>
      </p:pic>
      <p:pic>
        <p:nvPicPr>
          <p:cNvPr id="21" name="Picture 20" descr="feature_importance_best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709160"/>
            <a:ext cx="493776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3035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Source: Berkeley Earth Climate Change Dataset on Kaggle.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File used: GlobalLandTemperaturesByCity.csv.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Raw scale: approximately 8.6 million monthly city-level records.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Columns: dt, AverageTemperature, AverageTemperatureUncertainty, City, Country, Latitude, Longitude.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Working analysis window: 1900 onward after cleaning.</a:t>
            </a:r>
          </a:p>
        </p:txBody>
      </p:sp>
      <p:pic>
        <p:nvPicPr>
          <p:cNvPr id="6" name="Picture 5" descr="missing_valu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4937760" cy="2148840"/>
          </a:xfrm>
          <a:prstGeom prst="rect">
            <a:avLst/>
          </a:prstGeom>
        </p:spPr>
      </p:pic>
      <p:pic>
        <p:nvPicPr>
          <p:cNvPr id="7" name="Picture 6" descr="temperatur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03320"/>
            <a:ext cx="493776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85E"/>
                </a:solidFill>
                <a:latin typeface="Aptos"/>
              </a:defRPr>
            </a:pPr>
            <a:r>
              <a:t>Implemented in src/preprocessing.py and notebooks/01_data_cleaning.ipynb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Parsed dt as datetime and converted temperature columns to numeric.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Dropped rows with missing dt or AverageTemperature and removed duplicate records.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Converted latitude/longitude strings into signed float values.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Restricted the working dataset to 1900 onward.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Created cleaned data, South Asia subset, modeling sample, and chronological train/test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55448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4.79M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Cleaned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55448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75K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Modeling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88036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60K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Train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88036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15K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Test 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8640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Temporal: Year, Month, Quarter, Season, Decade, YearsSince1900.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Geographic: LatitudeValue, LongitudeValue, Hemisphere, Country, RegionTag.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Historical signals: Lag1Temperature, Lag12Temperature, Rolling12MeanTemperature.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Climate interpretation: HistoricalCityMonthMean, TemperatureAnomaly, ClimateRiskIndex.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South Asia region tag supports local climate interpretation and viva discussion.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417320"/>
          <a:ext cx="50292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3107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Importance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num__HistoricalCityMonthMean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num__Lag12Temperature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num__Lag1Temperature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num__Rolling12MeanTemperature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num__AverageTemperatureUncertainty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num__LongitudeValue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eature_importance_bes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617720"/>
            <a:ext cx="50292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EDA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457200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Global trend shows a clear warming direction over the modern climate record.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Seasonal boxplot confirms strong month/season structure in the target.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Correlation heatmap supports the importance of lagged and historical average features.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Outlier and country plots show wide geographic temperature variation.</a:t>
            </a:r>
          </a:p>
        </p:txBody>
      </p:sp>
      <p:pic>
        <p:nvPicPr>
          <p:cNvPr id="6" name="Picture 5" descr="seasonal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25880"/>
            <a:ext cx="2834640" cy="1920240"/>
          </a:xfrm>
          <a:prstGeom prst="rect">
            <a:avLst/>
          </a:prstGeom>
        </p:spPr>
      </p:pic>
      <p:pic>
        <p:nvPicPr>
          <p:cNvPr id="7" name="Picture 6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325880"/>
            <a:ext cx="2743200" cy="2286000"/>
          </a:xfrm>
          <a:prstGeom prst="rect">
            <a:avLst/>
          </a:prstGeom>
        </p:spPr>
      </p:pic>
      <p:pic>
        <p:nvPicPr>
          <p:cNvPr id="8" name="Picture 7" descr="countr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794760"/>
            <a:ext cx="580644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Implemented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85E"/>
                </a:solidFill>
                <a:latin typeface="Aptos"/>
              </a:defRPr>
            </a:pPr>
            <a:r>
              <a:t>Implemented in src/train.py and scripts/run_modeling.py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7607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Linear Regression: interpretable baseline.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Decision Tree Regressor: non-linear rule-based model.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Random Forest Regressor: robust bagging ensemble.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Gradient Boosting Regressor: sequential boosting ensemble.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XGBoost Regressor: optimized tree boosting model.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Numerical features were imputed and scaled; categorical features were imputed and one-hot encoded.</a:t>
            </a:r>
          </a:p>
        </p:txBody>
      </p:sp>
      <p:pic>
        <p:nvPicPr>
          <p:cNvPr id="7" name="Picture 6" descr="model_comparison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4663440" cy="2194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20840" y="416052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5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Models Compared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416052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2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Validation Splits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Chronological 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6583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R2 Score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48.649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42.640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47.808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56.321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76.755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35240" y="1325880"/>
            <a:ext cx="384048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23"/>
                </a:solidFill>
                <a:latin typeface="Aptos"/>
              </a:defRPr>
            </a:pPr>
            <a:r>
              <a:t>Best chronological model: Random Forest with RMSE 1.372 and R2 0.980.</a:t>
            </a:r>
          </a:p>
          <a:p>
            <a:pPr>
              <a:spcAft>
                <a:spcPts val="800"/>
              </a:spcAft>
              <a:defRPr sz="1600">
                <a:solidFill>
                  <a:srgbClr val="1F2923"/>
                </a:solidFill>
                <a:latin typeface="Aptos"/>
              </a:defRPr>
            </a:pPr>
            <a:r>
              <a:t>XGBoost is practically close on chronological split with RMSE 1.376.</a:t>
            </a:r>
          </a:p>
          <a:p>
            <a:pPr>
              <a:spcAft>
                <a:spcPts val="800"/>
              </a:spcAft>
              <a:defRPr sz="1600">
                <a:solidFill>
                  <a:srgbClr val="1F2923"/>
                </a:solidFill>
                <a:latin typeface="Aptos"/>
              </a:defRPr>
            </a:pPr>
            <a:r>
              <a:t>Linear Regression remains a useful baseline but has higher RMSE 1.546.</a:t>
            </a:r>
          </a:p>
          <a:p>
            <a:pPr>
              <a:spcAft>
                <a:spcPts val="800"/>
              </a:spcAft>
              <a:defRPr sz="1600">
                <a:solidFill>
                  <a:srgbClr val="1F2923"/>
                </a:solidFill>
                <a:latin typeface="Aptos"/>
              </a:defRPr>
            </a:pPr>
            <a:r>
              <a:t>MAPE is not the primary selection metric because near-zero temperatures inflate percentage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5074920"/>
            <a:ext cx="3749039" cy="713232"/>
          </a:xfrm>
          <a:prstGeom prst="roundRect">
            <a:avLst/>
          </a:prstGeom>
          <a:solidFill>
            <a:srgbClr val="B8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MAPE Note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High MAPE is caused by near-zero temperatures; RMSE and R2 are primary.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Cross-Validation and 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80160"/>
          <a:ext cx="53035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5105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CV Mean RMSE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CV Mean R2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463040"/>
            <a:ext cx="489204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XGBoost has best average CV RMSE: 1.4029.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Random Forest leads on chronological holdout, showing that ranking depends on validation design.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Chronological validation is more realistic for climate prediction because it tests later years using earlier observations.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480060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1.4228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Random Split Avg RMSE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80060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1.4657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Chronological Avg RMSE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2743200" cy="914400"/>
          </a:xfrm>
          <a:prstGeom prst="round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Random Forest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Best chronological RMSE: 1.372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371600"/>
            <a:ext cx="2743200" cy="914400"/>
          </a:xfrm>
          <a:prstGeom prst="roundRect">
            <a:avLst/>
          </a:prstGeom>
          <a:solidFill>
            <a:srgbClr val="B8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XGBoost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Best CV RMSE: 1.4029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371600"/>
            <a:ext cx="2743200" cy="914400"/>
          </a:xfrm>
          <a:prstGeom prst="roundRect">
            <a:avLst/>
          </a:prstGeom>
          <a:solidFill>
            <a:srgbClr val="63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Linear Regression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Weakest baseline RMSE: 1.546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557784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23"/>
                </a:solidFill>
                <a:latin typeface="Aptos"/>
              </a:defRPr>
            </a:pPr>
            <a:r>
              <a:t>Random Forest and XGBoost are practically close on chronological holdout: 1.372 vs 1.376.</a:t>
            </a:r>
          </a:p>
          <a:p>
            <a:pPr>
              <a:spcAft>
                <a:spcPts val="800"/>
              </a:spcAft>
              <a:defRPr sz="1600">
                <a:solidFill>
                  <a:srgbClr val="1F2923"/>
                </a:solidFill>
                <a:latin typeface="Aptos"/>
              </a:defRPr>
            </a:pPr>
            <a:r>
              <a:t>Ensemble models outperform simple linear and single-tree baselines.</a:t>
            </a:r>
          </a:p>
          <a:p>
            <a:pPr>
              <a:spcAft>
                <a:spcPts val="800"/>
              </a:spcAft>
              <a:defRPr sz="1600">
                <a:solidFill>
                  <a:srgbClr val="1F2923"/>
                </a:solidFill>
                <a:latin typeface="Aptos"/>
              </a:defRPr>
            </a:pPr>
            <a:r>
              <a:t>XGBoost is stronger under cross-validation, while Random Forest is stronger under chronological testing.</a:t>
            </a:r>
          </a:p>
          <a:p>
            <a:pPr>
              <a:spcAft>
                <a:spcPts val="800"/>
              </a:spcAft>
              <a:defRPr sz="1600">
                <a:solidFill>
                  <a:srgbClr val="1F2923"/>
                </a:solidFill>
                <a:latin typeface="Aptos"/>
              </a:defRPr>
            </a:pPr>
            <a:r>
              <a:t>Decision Tree is easier to explain but weaker in predictive accuracy.</a:t>
            </a:r>
          </a:p>
          <a:p>
            <a:pPr>
              <a:spcAft>
                <a:spcPts val="800"/>
              </a:spcAft>
              <a:defRPr sz="1600">
                <a:solidFill>
                  <a:srgbClr val="1F2923"/>
                </a:solidFill>
                <a:latin typeface="Aptos"/>
              </a:defRPr>
            </a:pPr>
            <a:r>
              <a:t>Final recommendation: Random Forest for future-period prediction; XGBoost as the CV-focused alternative.</a:t>
            </a:r>
          </a:p>
        </p:txBody>
      </p:sp>
      <p:pic>
        <p:nvPicPr>
          <p:cNvPr id="9" name="Picture 8" descr="model_comparison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43200"/>
            <a:ext cx="4572000" cy="2240280"/>
          </a:xfrm>
          <a:prstGeom prst="rect">
            <a:avLst/>
          </a:prstGeom>
        </p:spPr>
      </p:pic>
      <p:pic>
        <p:nvPicPr>
          <p:cNvPr id="10" name="Picture 9" descr="actual_vs_predicted_best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188720"/>
            <a:ext cx="196596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Best Model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5" name="Picture 4" descr="actual_vs_predicted_bes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4206240" cy="4206240"/>
          </a:xfrm>
          <a:prstGeom prst="rect">
            <a:avLst/>
          </a:prstGeom>
        </p:spPr>
      </p:pic>
      <p:pic>
        <p:nvPicPr>
          <p:cNvPr id="6" name="Picture 5" descr="residual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280160"/>
            <a:ext cx="2926080" cy="1920240"/>
          </a:xfrm>
          <a:prstGeom prst="rect">
            <a:avLst/>
          </a:prstGeom>
        </p:spPr>
      </p:pic>
      <p:pic>
        <p:nvPicPr>
          <p:cNvPr id="7" name="Picture 6" descr="feature_importance_best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657600"/>
            <a:ext cx="5669280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8200" y="1417320"/>
            <a:ext cx="274320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23"/>
                </a:solidFill>
                <a:latin typeface="Aptos"/>
              </a:defRPr>
            </a:pPr>
            <a:r>
              <a:t>Actual vs predicted plot shows close alignment around the ideal diagonal.</a:t>
            </a:r>
          </a:p>
          <a:p>
            <a:pPr>
              <a:spcAft>
                <a:spcPts val="800"/>
              </a:spcAft>
              <a:defRPr sz="1400">
                <a:solidFill>
                  <a:srgbClr val="1F2923"/>
                </a:solidFill>
                <a:latin typeface="Aptos"/>
              </a:defRPr>
            </a:pPr>
            <a:r>
              <a:t>Residuals are concentrated near zero.</a:t>
            </a:r>
          </a:p>
          <a:p>
            <a:pPr>
              <a:spcAft>
                <a:spcPts val="800"/>
              </a:spcAft>
              <a:defRPr sz="1400">
                <a:solidFill>
                  <a:srgbClr val="1F2923"/>
                </a:solidFill>
                <a:latin typeface="Aptos"/>
              </a:defRPr>
            </a:pPr>
            <a:r>
              <a:t>HistoricalCityMonthMean is the dominant feature, followed by lag and rolling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53949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Baseline Model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Baseline RMSE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Tuned RMSE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 Change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325880"/>
            <a:ext cx="484632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RandomizedSearchCV was applied to Random Forest and Gradient Boosting.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The saved results show tuning did not improve chronological holdout RMSE.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This is still useful: CV-optimized parameters do not always improve future-period performance.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The baseline Random Forest remains the final recommended model for chronological prediction.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Decade-Wise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Decade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MeanAbsoluteError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RootMeanSquaredError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5896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6656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2010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2448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5120" y="1508760"/>
            <a:ext cx="448056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RMSE increases from the 1990s to the 2010s.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This suggests recent climate conditions are harder to predict using historical city-month patterns.</a:t>
            </a:r>
          </a:p>
          <a:p>
            <a:pPr>
              <a:spcAft>
                <a:spcPts val="800"/>
              </a:spcAft>
              <a:defRPr sz="1700">
                <a:solidFill>
                  <a:srgbClr val="1F2923"/>
                </a:solidFill>
                <a:latin typeface="Aptos"/>
              </a:defRPr>
            </a:pPr>
            <a:r>
              <a:t>The decade analysis adds interpretation beyond a single aggregate accuracy number.</a:t>
            </a:r>
          </a:p>
        </p:txBody>
      </p:sp>
      <p:pic>
        <p:nvPicPr>
          <p:cNvPr id="7" name="Picture 6" descr="anomaly_trend_by_de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69080"/>
            <a:ext cx="10149840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South Asia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4297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</a:tblGrid>
              <a:tr h="33963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WarmingRatePerDecade</a:t>
                      </a:r>
                    </a:p>
                  </a:txBody>
                  <a:tcPr>
                    <a:solidFill>
                      <a:srgbClr val="16684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Afghanistan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Pakistan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Nepal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Sri Lanka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Bangladesh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23"/>
                          </a:solidFill>
                          <a:latin typeface="Aptos"/>
                        </a:defRPr>
                      </a:pPr>
                      <a:r>
                        <a:t>0.071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country_warming_ra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2971800" cy="1965960"/>
          </a:xfrm>
          <a:prstGeom prst="rect">
            <a:avLst/>
          </a:prstGeom>
        </p:spPr>
      </p:pic>
      <p:pic>
        <p:nvPicPr>
          <p:cNvPr id="7" name="Picture 6" descr="pakistan_vs_global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280160"/>
            <a:ext cx="2743200" cy="1965960"/>
          </a:xfrm>
          <a:prstGeom prst="rect">
            <a:avLst/>
          </a:prstGeom>
        </p:spPr>
      </p:pic>
      <p:pic>
        <p:nvPicPr>
          <p:cNvPr id="8" name="Picture 7" descr="pakistan_city_tr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749039"/>
            <a:ext cx="594360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069080"/>
            <a:ext cx="40690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23"/>
                </a:solidFill>
                <a:latin typeface="Aptos"/>
              </a:defRPr>
            </a:pPr>
            <a:r>
              <a:t>South Asia analysis gives the project regional climate relevance.</a:t>
            </a:r>
          </a:p>
          <a:p>
            <a:pPr>
              <a:spcAft>
                <a:spcPts val="800"/>
              </a:spcAft>
              <a:defRPr sz="1500">
                <a:solidFill>
                  <a:srgbClr val="1F2923"/>
                </a:solidFill>
                <a:latin typeface="Aptos"/>
              </a:defRPr>
            </a:pPr>
            <a:r>
              <a:t>Afghanistan and Pakistan have the highest estimated warming rates in the saved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Novelty and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85216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Novelty 1: anomaly-based climate interpretation, not only raw prediction.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Novelty 2: chronological validation to reduce temporal leakage.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Novelty 3: South Asia and Pakistan-focused analysis for local relevance.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Novelty 4: comparative evaluation across baseline, tree, ensemble, and boosting models.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Contribution: a reproducible city-level climate ML pipeline with real metrics, figures, and model artifacts.</a:t>
            </a:r>
          </a:p>
        </p:txBody>
      </p:sp>
      <p:pic>
        <p:nvPicPr>
          <p:cNvPr id="6" name="Picture 5" descr="rolling_mean_selected_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17320"/>
            <a:ext cx="4663440" cy="2331720"/>
          </a:xfrm>
          <a:prstGeom prst="rect">
            <a:avLst/>
          </a:prstGeom>
        </p:spPr>
      </p:pic>
      <p:pic>
        <p:nvPicPr>
          <p:cNvPr id="7" name="Picture 6" descr="global_vs_south_asia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977639"/>
            <a:ext cx="46634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Key Takeaways for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760720" cy="4800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Why regression? AverageTemperature is continuous, so RMSE and R2 are appropriate.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Why chronological split? Climate prediction should test future periods using earlier observations.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Why MAPE is high? Near-zero temperatures inflate percentage error.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What features mattered most? Historical city-month mean, lagged temperatures, and rolling means.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What is novel? Anomaly analysis, time-aware validation, South Asia case study, and model comparison.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6304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Random Forest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Best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78892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1.372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Chronological RMSE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411480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XGBoost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Best CV Model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6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23"/>
                </a:solidFill>
                <a:latin typeface="Aptos Display"/>
              </a:defRPr>
            </a:pPr>
            <a: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85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400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Best chronological model: Random Forest with RMSE 1.372 and R2 0.980.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Best CV model: XGBoost with CV RMSE 1.4029.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Lagged and historical city-month features are the strongest predictors.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Chronological split gives a more realistic estimate than random split for climate forecasting.</a:t>
            </a:r>
          </a:p>
          <a:p>
            <a:pPr>
              <a:spcAft>
                <a:spcPts val="800"/>
              </a:spcAft>
              <a:defRPr sz="1800">
                <a:solidFill>
                  <a:srgbClr val="1F2923"/>
                </a:solidFill>
                <a:latin typeface="Aptos"/>
              </a:defRPr>
            </a:pPr>
            <a:r>
              <a:t>Future work: LSTM/Transformer models, post-2013 NASA/NOAA data, added CO2/rainfall/humidity variables, and a Streamlit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45920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Random Forest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Final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971800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1.372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297680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6684C"/>
                </a:solidFill>
                <a:latin typeface="Aptos Display"/>
              </a:defRPr>
            </a:pPr>
            <a:r>
              <a:t>0.980</a:t>
            </a:r>
          </a:p>
          <a:p>
            <a:pPr algn="ctr">
              <a:defRPr sz="1000">
                <a:solidFill>
                  <a:srgbClr val="5B685E"/>
                </a:solidFill>
                <a:latin typeface="Aptos"/>
              </a:defRPr>
            </a:pPr>
            <a:r>
              <a:t>R2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